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18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82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1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6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0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71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7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7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51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1431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37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366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37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09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32788-8C8B-46EE-B6E9-763392BE8BEE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83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7B60-2E0E-4B24-A35D-ED67E6EE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BE87-B347-4F83-A341-6B1F6C94D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b="1" dirty="0"/>
              <a:t>computer</a:t>
            </a:r>
            <a:r>
              <a:rPr lang="en-US" sz="1800" dirty="0"/>
              <a:t> is an </a:t>
            </a:r>
            <a:r>
              <a:rPr lang="en-US" sz="1800" b="1" dirty="0"/>
              <a:t>electronic device</a:t>
            </a:r>
            <a:r>
              <a:rPr lang="en-US" sz="1800" dirty="0"/>
              <a:t> that is capable of </a:t>
            </a:r>
            <a:r>
              <a:rPr lang="en-US" sz="1800" b="1" dirty="0"/>
              <a:t>receiving data (input)</a:t>
            </a:r>
            <a:r>
              <a:rPr lang="en-US" sz="1800" dirty="0"/>
              <a:t>, </a:t>
            </a:r>
            <a:r>
              <a:rPr lang="en-US" sz="1800" b="1" dirty="0"/>
              <a:t>processing it</a:t>
            </a:r>
            <a:r>
              <a:rPr lang="en-US" sz="1800" dirty="0"/>
              <a:t> as per given instructions (program), and then </a:t>
            </a:r>
            <a:r>
              <a:rPr lang="en-US" sz="1800" b="1" dirty="0"/>
              <a:t>producing output</a:t>
            </a:r>
            <a:r>
              <a:rPr lang="en-US" sz="1800" dirty="0"/>
              <a:t>. It can store data and perform various tasks very quickly and accurately.</a:t>
            </a:r>
          </a:p>
          <a:p>
            <a:pPr marL="0" indent="0">
              <a:buNone/>
            </a:pPr>
            <a:r>
              <a:rPr lang="en-US" sz="1800" dirty="0"/>
              <a:t>Computer word is derived from the Latin word </a:t>
            </a:r>
            <a:r>
              <a:rPr lang="en-US" sz="1800" b="1" dirty="0"/>
              <a:t>"</a:t>
            </a:r>
            <a:r>
              <a:rPr lang="en-US" sz="1800" b="1" dirty="0" err="1"/>
              <a:t>computare</a:t>
            </a:r>
            <a:r>
              <a:rPr lang="en-US" sz="1800" b="1" dirty="0"/>
              <a:t>"</a:t>
            </a:r>
            <a:r>
              <a:rPr lang="en-US" sz="1800" dirty="0"/>
              <a:t>, which means </a:t>
            </a:r>
            <a:r>
              <a:rPr lang="en-US" sz="1800" b="1" dirty="0"/>
              <a:t>"to calculate"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Characteristics of a Computer:</a:t>
            </a:r>
          </a:p>
          <a:p>
            <a:r>
              <a:rPr lang="en-US" sz="1800" b="1" dirty="0"/>
              <a:t>Speed</a:t>
            </a:r>
            <a:r>
              <a:rPr lang="en-US" sz="1800" dirty="0"/>
              <a:t> – Computers can perform millions of instructions per second.</a:t>
            </a:r>
          </a:p>
          <a:p>
            <a:r>
              <a:rPr lang="en-US" sz="1800" b="1" dirty="0"/>
              <a:t>Accuracy</a:t>
            </a:r>
            <a:r>
              <a:rPr lang="en-US" sz="1800" dirty="0"/>
              <a:t> – High accuracy with minimum errors.</a:t>
            </a:r>
          </a:p>
          <a:p>
            <a:r>
              <a:rPr lang="en-US" sz="1800" b="1" dirty="0"/>
              <a:t>Automation</a:t>
            </a:r>
            <a:r>
              <a:rPr lang="en-US" sz="1800" dirty="0"/>
              <a:t> – Can work automatically once given instructions.</a:t>
            </a:r>
          </a:p>
          <a:p>
            <a:r>
              <a:rPr lang="en-US" sz="1800" b="1" dirty="0"/>
              <a:t>Storage</a:t>
            </a:r>
            <a:r>
              <a:rPr lang="en-US" sz="1800" dirty="0"/>
              <a:t> – Can store large amounts of data permanently.</a:t>
            </a:r>
          </a:p>
          <a:p>
            <a:r>
              <a:rPr lang="en-US" sz="1800" b="1" dirty="0"/>
              <a:t>Versatility</a:t>
            </a:r>
            <a:r>
              <a:rPr lang="en-US" sz="1800" dirty="0"/>
              <a:t> – Can perform different types of tasks.</a:t>
            </a:r>
          </a:p>
          <a:p>
            <a:r>
              <a:rPr lang="en-US" sz="1800" b="1" dirty="0"/>
              <a:t>Diligence</a:t>
            </a:r>
            <a:r>
              <a:rPr lang="en-US" sz="1800" dirty="0"/>
              <a:t> – Unlike humans, computers do not get tired or bored.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5876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7667-6764-4989-BE82-290E5E82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Types Of Computer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ABB1C-ECFA-433D-B748-CEDCD2DF2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a) Analog Computer:</a:t>
            </a:r>
          </a:p>
          <a:p>
            <a:r>
              <a:rPr lang="en-US" sz="1800" dirty="0"/>
              <a:t>Works on continuous data (not digital).</a:t>
            </a:r>
          </a:p>
          <a:p>
            <a:r>
              <a:rPr lang="en-US" sz="1800" dirty="0"/>
              <a:t>Used in scientific and engineering applications.</a:t>
            </a:r>
          </a:p>
          <a:p>
            <a:r>
              <a:rPr lang="en-US" sz="1800" dirty="0"/>
              <a:t>Example: Speedometer, thermometer.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b) Digital Computer:</a:t>
            </a:r>
          </a:p>
          <a:p>
            <a:r>
              <a:rPr lang="en-US" sz="1800" dirty="0"/>
              <a:t>Works on discrete data (0 and 1 – binary).</a:t>
            </a:r>
          </a:p>
          <a:p>
            <a:r>
              <a:rPr lang="en-US" sz="1800" dirty="0"/>
              <a:t>Most common type of computer used today.</a:t>
            </a:r>
          </a:p>
          <a:p>
            <a:r>
              <a:rPr lang="en-US" sz="1800" dirty="0"/>
              <a:t>Example: Laptop, mobile phone.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c) Hybrid Computer:</a:t>
            </a:r>
          </a:p>
          <a:p>
            <a:r>
              <a:rPr lang="en-US" sz="1800" dirty="0"/>
              <a:t>Combination of analog and digital computer.</a:t>
            </a:r>
          </a:p>
          <a:p>
            <a:r>
              <a:rPr lang="en-US" sz="1800" dirty="0"/>
              <a:t>Used in hospitals (e.g., ECG machines), scientific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93EFC-5F2D-4287-99D8-5E750E05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62" y="1825626"/>
            <a:ext cx="2969969" cy="1474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ADAC3C-46FC-472A-8056-F1CFC4A2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63" y="3429000"/>
            <a:ext cx="2969970" cy="1474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4E1A2-6AE7-43BB-8743-72C2A5CC8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956" y="5032374"/>
            <a:ext cx="1836834" cy="9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BFD8-64DF-4862-BB3C-EAD2B897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Types Of Digital Computer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018A0-2657-495D-98B4-6540820C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49626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a) Microcomputer (Personal Computer – PC):</a:t>
            </a:r>
          </a:p>
          <a:p>
            <a:r>
              <a:rPr lang="en-US" sz="2200" dirty="0"/>
              <a:t>Smallest and most commonly used.</a:t>
            </a:r>
          </a:p>
          <a:p>
            <a:r>
              <a:rPr lang="en-US" sz="2200" dirty="0"/>
              <a:t>Designed for individual use.</a:t>
            </a:r>
          </a:p>
          <a:p>
            <a:r>
              <a:rPr lang="en-US" sz="2200" dirty="0"/>
              <a:t>Example: Desktop, Laptop.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b) Mini Computer:</a:t>
            </a:r>
          </a:p>
          <a:p>
            <a:r>
              <a:rPr lang="en-US" sz="2200" dirty="0"/>
              <a:t>Mid-sized computer.</a:t>
            </a:r>
          </a:p>
          <a:p>
            <a:r>
              <a:rPr lang="en-US" sz="2200" dirty="0"/>
              <a:t>Supports multiple users at the same time.</a:t>
            </a:r>
          </a:p>
          <a:p>
            <a:r>
              <a:rPr lang="en-US" sz="2200" dirty="0"/>
              <a:t>Used in small and medium organizations.</a:t>
            </a:r>
          </a:p>
          <a:p>
            <a:pPr marL="0" indent="0">
              <a:buNone/>
            </a:pPr>
            <a:r>
              <a:rPr lang="en-US" sz="3300" b="1" dirty="0">
                <a:solidFill>
                  <a:srgbClr val="0070C0"/>
                </a:solidFill>
              </a:rPr>
              <a:t>c</a:t>
            </a:r>
            <a:r>
              <a:rPr lang="en-US" sz="3200" b="1" dirty="0">
                <a:solidFill>
                  <a:srgbClr val="0070C0"/>
                </a:solidFill>
              </a:rPr>
              <a:t>) Mainframe Computer:</a:t>
            </a:r>
          </a:p>
          <a:p>
            <a:r>
              <a:rPr lang="en-US" sz="2200" dirty="0"/>
              <a:t>Large and powerful systems.</a:t>
            </a:r>
          </a:p>
          <a:p>
            <a:r>
              <a:rPr lang="en-US" sz="2200" dirty="0"/>
              <a:t>Can support hundreds or thousands of users simultaneously.</a:t>
            </a:r>
          </a:p>
          <a:p>
            <a:r>
              <a:rPr lang="en-US" sz="2200" dirty="0"/>
              <a:t>Used in banks, railways, government departments.</a:t>
            </a:r>
          </a:p>
          <a:p>
            <a:pPr marL="0" indent="0">
              <a:buNone/>
            </a:pPr>
            <a:r>
              <a:rPr lang="en-US" sz="3300" b="1" dirty="0">
                <a:solidFill>
                  <a:srgbClr val="0070C0"/>
                </a:solidFill>
              </a:rPr>
              <a:t>d) Supercomputer:</a:t>
            </a:r>
          </a:p>
          <a:p>
            <a:r>
              <a:rPr lang="en-US" sz="2200" dirty="0"/>
              <a:t>Most powerful and fastest computer.</a:t>
            </a:r>
          </a:p>
          <a:p>
            <a:r>
              <a:rPr lang="en-US" sz="2200" dirty="0"/>
              <a:t>Used in scientific research, weather forecasting, space research.</a:t>
            </a:r>
          </a:p>
          <a:p>
            <a:r>
              <a:rPr lang="en-US" sz="2200" dirty="0"/>
              <a:t>Example: PARAM, </a:t>
            </a:r>
            <a:r>
              <a:rPr lang="en-US" sz="2200" dirty="0" err="1"/>
              <a:t>Fugaku</a:t>
            </a:r>
            <a:r>
              <a:rPr lang="en-US" sz="2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69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076B-0CA8-4142-99C2-C99A6123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7273"/>
          </a:xfrm>
        </p:spPr>
        <p:txBody>
          <a:bodyPr/>
          <a:lstStyle/>
          <a:p>
            <a:r>
              <a:rPr lang="en-US" b="1" dirty="0"/>
              <a:t>What are IT Gadgets?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93A89-92DC-4D4D-880A-7FA6D391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(Information Technology) gadgets</a:t>
            </a:r>
            <a:r>
              <a:rPr lang="en-US" dirty="0"/>
              <a:t> are </a:t>
            </a:r>
            <a:r>
              <a:rPr lang="en-US" b="1" dirty="0"/>
              <a:t>smart electronic devices</a:t>
            </a:r>
            <a:r>
              <a:rPr lang="en-US" dirty="0"/>
              <a:t> that use computing technology to help users perform various digital tasks more easily, efficiently, and in a mobile or user-friendly way.</a:t>
            </a:r>
          </a:p>
          <a:p>
            <a:r>
              <a:rPr lang="en-US" dirty="0"/>
              <a:t>These gadgets use internet, wireless technology, sensors, cloud computing, AI, etc., to enhance usability and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925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527F-147C-417D-98B7-08DEAFC1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Latest IT Gadgets and Their Applications: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C9AD-254B-40A3-A1CE-608DDC0B0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 dirty="0"/>
              <a:t>Smartphones:</a:t>
            </a:r>
          </a:p>
          <a:p>
            <a:r>
              <a:rPr lang="en-US" dirty="0"/>
              <a:t>Mini computers with calling, texting, browsing, gaming, GPS, camera, etc.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Social media, online banking, learning apps, video calls, mobile payments (UPI, Paytm), etc.</a:t>
            </a:r>
            <a:endParaRPr lang="en-IN" dirty="0"/>
          </a:p>
          <a:p>
            <a:pPr marL="0" indent="0">
              <a:buNone/>
            </a:pPr>
            <a:r>
              <a:rPr lang="en-IN" sz="1900" b="1" dirty="0"/>
              <a:t>Tablets and iPads:</a:t>
            </a:r>
          </a:p>
          <a:p>
            <a:r>
              <a:rPr lang="en-IN" dirty="0"/>
              <a:t>Portable touchscreen devices.</a:t>
            </a:r>
          </a:p>
          <a:p>
            <a:r>
              <a:rPr lang="en-IN" dirty="0"/>
              <a:t>Applications:</a:t>
            </a:r>
          </a:p>
          <a:p>
            <a:r>
              <a:rPr lang="en-US" dirty="0"/>
              <a:t>Reading, attending online classes, entertainment, sketching, note-making, browsing.</a:t>
            </a:r>
          </a:p>
          <a:p>
            <a:pPr marL="0" indent="0">
              <a:buNone/>
            </a:pPr>
            <a:r>
              <a:rPr lang="en-US" sz="1900" b="1" dirty="0"/>
              <a:t>Smartwatches:</a:t>
            </a:r>
          </a:p>
          <a:p>
            <a:r>
              <a:rPr lang="en-US" dirty="0"/>
              <a:t>Wearable device that connects with smartphone.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Track health (heart rate, steps), receive calls/messages, GPS tracking, fitness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5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1F74-1D15-4C98-ADAD-0A126008E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53143"/>
            <a:ext cx="8596668" cy="5388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Laptops and Notebooks:</a:t>
            </a:r>
          </a:p>
          <a:p>
            <a:r>
              <a:rPr lang="en-US" dirty="0"/>
              <a:t>Portable version of desktop computers.</a:t>
            </a:r>
          </a:p>
          <a:p>
            <a:r>
              <a:rPr lang="en-IN" dirty="0"/>
              <a:t>Applications:</a:t>
            </a:r>
          </a:p>
          <a:p>
            <a:r>
              <a:rPr lang="en-US" dirty="0"/>
              <a:t>Office work, online learning, programming, browsing, designing, business tasks.</a:t>
            </a:r>
          </a:p>
          <a:p>
            <a:pPr marL="0" indent="0">
              <a:buNone/>
            </a:pPr>
            <a:r>
              <a:rPr lang="en-US" b="1" dirty="0"/>
              <a:t>Voice Assistants (e.g., Alexa, Google Assistant, Siri):</a:t>
            </a:r>
          </a:p>
          <a:p>
            <a:r>
              <a:rPr lang="en-US" dirty="0"/>
              <a:t>Use AI to understand voice commands and perform tasks.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Home automation, asking questions, setting reminders, playing music, controlling smart devices.</a:t>
            </a:r>
          </a:p>
          <a:p>
            <a:pPr marL="0" indent="0">
              <a:buNone/>
            </a:pPr>
            <a:r>
              <a:rPr lang="en-US" b="1" dirty="0"/>
              <a:t>Smart TVs:</a:t>
            </a:r>
          </a:p>
          <a:p>
            <a:r>
              <a:rPr lang="en-US" dirty="0"/>
              <a:t>Television with internet connectivity and apps.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Watch YouTube, Netflix, online content, connect phones, use voice control.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80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1A88-28FF-4432-BE2D-0AF7C2E78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93103"/>
            <a:ext cx="8596668" cy="5248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Drones:</a:t>
            </a:r>
          </a:p>
          <a:p>
            <a:r>
              <a:rPr lang="en-US" dirty="0"/>
              <a:t>Remotely operated flying machines with cameras.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Aerial photography, surveillance, agriculture, military, delivery services.</a:t>
            </a:r>
          </a:p>
          <a:p>
            <a:pPr marL="0" indent="0">
              <a:buNone/>
            </a:pPr>
            <a:r>
              <a:rPr lang="en-US" sz="2100" b="1" dirty="0"/>
              <a:t>VR (Virtual Reality) Headsets:</a:t>
            </a:r>
          </a:p>
          <a:p>
            <a:r>
              <a:rPr lang="en-US" dirty="0"/>
              <a:t>Devices that give immersive 3D experience.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Gaming, training simulations, education, architecture, entertainment.</a:t>
            </a:r>
          </a:p>
          <a:p>
            <a:pPr marL="0" indent="0">
              <a:buNone/>
            </a:pPr>
            <a:r>
              <a:rPr lang="en-US" sz="2100" b="1" dirty="0"/>
              <a:t>Smart Speakers:</a:t>
            </a:r>
          </a:p>
          <a:p>
            <a:r>
              <a:rPr lang="en-US" dirty="0"/>
              <a:t>Wireless speaker with virtual assistant.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Voice-controlled music, news updates, controlling smart home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29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1EFF-8135-4317-9BD6-A8E0B4C1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Smart Home Devices (IoT Devices):</a:t>
            </a:r>
          </a:p>
          <a:p>
            <a:r>
              <a:rPr lang="en-US" dirty="0"/>
              <a:t>Internet-connected devices used at home.</a:t>
            </a:r>
          </a:p>
          <a:p>
            <a:r>
              <a:rPr lang="en-US" dirty="0"/>
              <a:t>Examples: Smart bulbs, smart locks, smart ACs, smart refrigerators.</a:t>
            </a:r>
          </a:p>
          <a:p>
            <a:r>
              <a:rPr lang="en-US" dirty="0"/>
              <a:t>Applications:</a:t>
            </a:r>
          </a:p>
          <a:p>
            <a:r>
              <a:rPr lang="en-IN" dirty="0"/>
              <a:t>Home automation, remote control via mobile apps.</a:t>
            </a:r>
          </a:p>
        </p:txBody>
      </p:sp>
    </p:spTree>
    <p:extLst>
      <p:ext uri="{BB962C8B-B14F-4D97-AF65-F5344CB8AC3E}">
        <p14:creationId xmlns:p14="http://schemas.microsoft.com/office/powerpoint/2010/main" val="332272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3A27-4A1D-4D17-BE2C-967A7627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8108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latin typeface="Arial" panose="020B0604020202020204" pitchFamily="34" charset="0"/>
              </a:rPr>
              <a:t>Applications of Computers and IT Gadgets in Daily Life: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3BD8F3-5F20-4E86-BEB5-A7BB3ABD1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140660"/>
              </p:ext>
            </p:extLst>
          </p:nvPr>
        </p:nvGraphicFramePr>
        <p:xfrm>
          <a:off x="677334" y="1690688"/>
          <a:ext cx="9716968" cy="4426980"/>
        </p:xfrm>
        <a:graphic>
          <a:graphicData uri="http://schemas.openxmlformats.org/drawingml/2006/table">
            <a:tbl>
              <a:tblPr/>
              <a:tblGrid>
                <a:gridCol w="4858484">
                  <a:extLst>
                    <a:ext uri="{9D8B030D-6E8A-4147-A177-3AD203B41FA5}">
                      <a16:colId xmlns:a16="http://schemas.microsoft.com/office/drawing/2014/main" val="3810800570"/>
                    </a:ext>
                  </a:extLst>
                </a:gridCol>
                <a:gridCol w="4858484">
                  <a:extLst>
                    <a:ext uri="{9D8B030D-6E8A-4147-A177-3AD203B41FA5}">
                      <a16:colId xmlns:a16="http://schemas.microsoft.com/office/drawing/2014/main" val="1152464507"/>
                    </a:ext>
                  </a:extLst>
                </a:gridCol>
              </a:tblGrid>
              <a:tr h="524470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rgbClr val="0070C0"/>
                          </a:solidFill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0070C0"/>
                          </a:solidFill>
                        </a:rPr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663114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Education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classes, e-books, virtual labs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182411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Healthcare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Patient monitoring, telemedicine, digital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73617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Banking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banking, ATMs, digital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345164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Business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processing, emails, video meetings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377476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/>
                        <a:t>Entertainment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Music, movies, online games, social 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245835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/>
                        <a:t>Travel and Transport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bookings, GPS navigation, smart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111563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Government Services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forms, public portals, Aadhaar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50671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B6B9A95-E331-49D5-8772-E6ACF0826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7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4B77-ABCE-4C25-8760-25B4ED933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245" y="1682620"/>
            <a:ext cx="8596668" cy="855306"/>
          </a:xfrm>
        </p:spPr>
        <p:txBody>
          <a:bodyPr/>
          <a:lstStyle/>
          <a:p>
            <a:r>
              <a:rPr lang="en-US" b="1" dirty="0"/>
              <a:t>Evolution of Computers (History)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504D8-2540-42A1-9560-100CA9460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33871"/>
            <a:ext cx="8596668" cy="221135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evolution of computers</a:t>
            </a:r>
            <a:r>
              <a:rPr lang="en-US" dirty="0"/>
              <a:t> refers to the development of computing machines from simple calculating tools to the highly intelligent systems we use today.</a:t>
            </a:r>
          </a:p>
          <a:p>
            <a:r>
              <a:rPr lang="en-US" dirty="0"/>
              <a:t>The journey of computers began with basic mechanical devices and moved forward through various stages of technological advancement.</a:t>
            </a:r>
          </a:p>
        </p:txBody>
      </p:sp>
    </p:spTree>
    <p:extLst>
      <p:ext uri="{BB962C8B-B14F-4D97-AF65-F5344CB8AC3E}">
        <p14:creationId xmlns:p14="http://schemas.microsoft.com/office/powerpoint/2010/main" val="383091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F377-E7FB-4B7B-84F3-FDCA2D36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374"/>
            <a:ext cx="8596668" cy="771331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Early Calculating Devices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9C24FC-704F-4013-8647-0B486627F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745047"/>
              </p:ext>
            </p:extLst>
          </p:nvPr>
        </p:nvGraphicFramePr>
        <p:xfrm>
          <a:off x="838200" y="1930400"/>
          <a:ext cx="8669696" cy="3213895"/>
        </p:xfrm>
        <a:graphic>
          <a:graphicData uri="http://schemas.openxmlformats.org/drawingml/2006/table">
            <a:tbl>
              <a:tblPr/>
              <a:tblGrid>
                <a:gridCol w="2167424">
                  <a:extLst>
                    <a:ext uri="{9D8B030D-6E8A-4147-A177-3AD203B41FA5}">
                      <a16:colId xmlns:a16="http://schemas.microsoft.com/office/drawing/2014/main" val="2917513333"/>
                    </a:ext>
                  </a:extLst>
                </a:gridCol>
                <a:gridCol w="1724996">
                  <a:extLst>
                    <a:ext uri="{9D8B030D-6E8A-4147-A177-3AD203B41FA5}">
                      <a16:colId xmlns:a16="http://schemas.microsoft.com/office/drawing/2014/main" val="3311521716"/>
                    </a:ext>
                  </a:extLst>
                </a:gridCol>
                <a:gridCol w="1296956">
                  <a:extLst>
                    <a:ext uri="{9D8B030D-6E8A-4147-A177-3AD203B41FA5}">
                      <a16:colId xmlns:a16="http://schemas.microsoft.com/office/drawing/2014/main" val="15619137"/>
                    </a:ext>
                  </a:extLst>
                </a:gridCol>
                <a:gridCol w="3480320">
                  <a:extLst>
                    <a:ext uri="{9D8B030D-6E8A-4147-A177-3AD203B41FA5}">
                      <a16:colId xmlns:a16="http://schemas.microsoft.com/office/drawing/2014/main" val="4245331545"/>
                    </a:ext>
                  </a:extLst>
                </a:gridCol>
              </a:tblGrid>
              <a:tr h="535649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Inventor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033690"/>
                  </a:ext>
                </a:extLst>
              </a:tr>
              <a:tr h="749909">
                <a:tc>
                  <a:txBody>
                    <a:bodyPr/>
                    <a:lstStyle/>
                    <a:p>
                      <a:r>
                        <a:rPr lang="en-IN" b="1" dirty="0"/>
                        <a:t>Abacus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Chinese Civilization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~3000 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 manual calculator using beads.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921870"/>
                  </a:ext>
                </a:extLst>
              </a:tr>
              <a:tr h="749909">
                <a:tc>
                  <a:txBody>
                    <a:bodyPr/>
                    <a:lstStyle/>
                    <a:p>
                      <a:r>
                        <a:rPr lang="en-IN" b="1"/>
                        <a:t>Napier’s Bones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John Napier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1617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multiplication and division.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486126"/>
                  </a:ext>
                </a:extLst>
              </a:tr>
              <a:tr h="428519">
                <a:tc>
                  <a:txBody>
                    <a:bodyPr/>
                    <a:lstStyle/>
                    <a:p>
                      <a:r>
                        <a:rPr lang="en-IN" b="1"/>
                        <a:t>Pascaline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Blaise Pascal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1642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First mechanical calculator.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396747"/>
                  </a:ext>
                </a:extLst>
              </a:tr>
              <a:tr h="749909">
                <a:tc>
                  <a:txBody>
                    <a:bodyPr/>
                    <a:lstStyle/>
                    <a:p>
                      <a:r>
                        <a:rPr lang="en-IN" b="1"/>
                        <a:t>Analytical Engine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Charles Babbage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1837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Considered the first concept of a modern computer.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87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826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94D6-9065-4069-B278-2F3528DD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2629"/>
          </a:xfrm>
        </p:spPr>
        <p:txBody>
          <a:bodyPr/>
          <a:lstStyle/>
          <a:p>
            <a:r>
              <a:rPr lang="en-US" b="1" dirty="0"/>
              <a:t>Generations of Computers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3F89-4CD1-4F6D-B8BE-3A53217F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44458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development of computer technology is divided into </a:t>
            </a:r>
            <a:r>
              <a:rPr lang="en-US" b="1" dirty="0"/>
              <a:t>five generations</a:t>
            </a:r>
            <a:r>
              <a:rPr lang="en-US" dirty="0"/>
              <a:t>, each marked by significant advancements in hardware and software.</a:t>
            </a:r>
          </a:p>
          <a:p>
            <a:r>
              <a:rPr lang="en-US" b="1" dirty="0"/>
              <a:t>1st Generation Computers (1940–1956)</a:t>
            </a:r>
          </a:p>
          <a:p>
            <a:r>
              <a:rPr lang="en-US" b="1" dirty="0"/>
              <a:t>Technology Used:</a:t>
            </a:r>
            <a:r>
              <a:rPr lang="en-US" dirty="0"/>
              <a:t> Vacuum Tubes</a:t>
            </a:r>
          </a:p>
          <a:p>
            <a:r>
              <a:rPr lang="en-US" b="1" dirty="0"/>
              <a:t>Programming Language:</a:t>
            </a:r>
            <a:r>
              <a:rPr lang="en-US" dirty="0"/>
              <a:t> Machine language (binary code – 0s and 1s)</a:t>
            </a:r>
          </a:p>
          <a:p>
            <a:r>
              <a:rPr lang="en-US" b="1" dirty="0"/>
              <a:t>Size:</a:t>
            </a:r>
            <a:r>
              <a:rPr lang="en-US" dirty="0"/>
              <a:t> Very large (occupied entire rooms)</a:t>
            </a:r>
          </a:p>
          <a:p>
            <a:r>
              <a:rPr lang="en-US" b="1" dirty="0"/>
              <a:t>Speed:</a:t>
            </a:r>
            <a:r>
              <a:rPr lang="en-US" dirty="0"/>
              <a:t> Very slow</a:t>
            </a:r>
          </a:p>
          <a:p>
            <a:r>
              <a:rPr lang="en-US" b="1" dirty="0"/>
              <a:t>Examples:</a:t>
            </a:r>
            <a:r>
              <a:rPr lang="en-US" dirty="0"/>
              <a:t> ENIAC, EDVAC, UNIVAC</a:t>
            </a:r>
          </a:p>
          <a:p>
            <a:r>
              <a:rPr lang="en-US" b="1" dirty="0"/>
              <a:t>Drawbacks:</a:t>
            </a:r>
          </a:p>
          <a:p>
            <a:pPr lvl="1"/>
            <a:r>
              <a:rPr lang="en-US" dirty="0"/>
              <a:t>Produced a lot of heat</a:t>
            </a:r>
          </a:p>
          <a:p>
            <a:pPr lvl="1"/>
            <a:r>
              <a:rPr lang="en-IN" dirty="0"/>
              <a:t>Required air conditioning</a:t>
            </a:r>
          </a:p>
          <a:p>
            <a:pPr lvl="1"/>
            <a:r>
              <a:rPr lang="en-IN" dirty="0"/>
              <a:t>Frequently failed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689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9ECC-3A91-4905-A232-AF509D8C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45030"/>
            <a:ext cx="8596668" cy="4058816"/>
          </a:xfrm>
        </p:spPr>
        <p:txBody>
          <a:bodyPr>
            <a:normAutofit/>
          </a:bodyPr>
          <a:lstStyle/>
          <a:p>
            <a:r>
              <a:rPr lang="en-US" b="1" dirty="0"/>
              <a:t>2nd Generation Computers (1956–1963)</a:t>
            </a:r>
          </a:p>
          <a:p>
            <a:r>
              <a:rPr lang="en-US" b="1" dirty="0"/>
              <a:t>Technology Used:</a:t>
            </a:r>
            <a:r>
              <a:rPr lang="en-US" dirty="0"/>
              <a:t> Transistors (replaced vacuum tubes)</a:t>
            </a:r>
          </a:p>
          <a:p>
            <a:r>
              <a:rPr lang="en-US" b="1" dirty="0"/>
              <a:t>Programming Language:</a:t>
            </a:r>
            <a:r>
              <a:rPr lang="en-US" dirty="0"/>
              <a:t> Assembly language</a:t>
            </a:r>
          </a:p>
          <a:p>
            <a:r>
              <a:rPr lang="en-US" b="1" dirty="0"/>
              <a:t>Size:</a:t>
            </a:r>
            <a:r>
              <a:rPr lang="en-US" dirty="0"/>
              <a:t> Smaller and more reliable</a:t>
            </a:r>
          </a:p>
          <a:p>
            <a:r>
              <a:rPr lang="en-US" b="1" dirty="0"/>
              <a:t>Speed:</a:t>
            </a:r>
            <a:r>
              <a:rPr lang="en-US" dirty="0"/>
              <a:t> Faster than 1st generation</a:t>
            </a:r>
          </a:p>
          <a:p>
            <a:r>
              <a:rPr lang="en-US" b="1" dirty="0"/>
              <a:t>Examples:</a:t>
            </a:r>
            <a:r>
              <a:rPr lang="en-US" dirty="0"/>
              <a:t> IBM 1401, IBM 7094</a:t>
            </a:r>
          </a:p>
          <a:p>
            <a:r>
              <a:rPr lang="en-US" b="1" dirty="0"/>
              <a:t>Advantages: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/>
              <a:t>Less heat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/>
              <a:t>Less power consumption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/>
              <a:t>Better performance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607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3579-EEE5-4E42-B6C1-8F70F2AC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95739"/>
            <a:ext cx="8596668" cy="4683967"/>
          </a:xfrm>
        </p:spPr>
        <p:txBody>
          <a:bodyPr>
            <a:normAutofit/>
          </a:bodyPr>
          <a:lstStyle/>
          <a:p>
            <a:r>
              <a:rPr lang="en-US" b="1" dirty="0"/>
              <a:t>3rd Generation Computers (1964–1971)</a:t>
            </a:r>
          </a:p>
          <a:p>
            <a:r>
              <a:rPr lang="en-US" b="1" dirty="0"/>
              <a:t>Technology Used:</a:t>
            </a:r>
            <a:r>
              <a:rPr lang="en-US" dirty="0"/>
              <a:t> Integrated Circuits (IC)</a:t>
            </a:r>
          </a:p>
          <a:p>
            <a:r>
              <a:rPr lang="en-US" b="1" dirty="0"/>
              <a:t>Programming Language:</a:t>
            </a:r>
            <a:r>
              <a:rPr lang="en-US" dirty="0"/>
              <a:t> High-level languages (like FORTRAN, COBOL)</a:t>
            </a:r>
          </a:p>
          <a:p>
            <a:r>
              <a:rPr lang="en-US" b="1" dirty="0"/>
              <a:t>Size:</a:t>
            </a:r>
            <a:r>
              <a:rPr lang="en-US" dirty="0"/>
              <a:t> More compact</a:t>
            </a:r>
          </a:p>
          <a:p>
            <a:r>
              <a:rPr lang="en-US" b="1" dirty="0"/>
              <a:t>Speed:</a:t>
            </a:r>
            <a:r>
              <a:rPr lang="en-US" dirty="0"/>
              <a:t> Much faster</a:t>
            </a:r>
          </a:p>
          <a:p>
            <a:r>
              <a:rPr lang="en-US" b="1" dirty="0"/>
              <a:t>Examples:</a:t>
            </a:r>
            <a:r>
              <a:rPr lang="en-US" dirty="0"/>
              <a:t> IBM System/360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IN" dirty="0"/>
              <a:t>Lower cost</a:t>
            </a:r>
          </a:p>
          <a:p>
            <a:r>
              <a:rPr lang="en-IN" dirty="0"/>
              <a:t>Better storage and processing</a:t>
            </a:r>
          </a:p>
          <a:p>
            <a:r>
              <a:rPr lang="en-IN" dirty="0"/>
              <a:t>Supported multitasking</a:t>
            </a:r>
          </a:p>
        </p:txBody>
      </p:sp>
    </p:spTree>
    <p:extLst>
      <p:ext uri="{BB962C8B-B14F-4D97-AF65-F5344CB8AC3E}">
        <p14:creationId xmlns:p14="http://schemas.microsoft.com/office/powerpoint/2010/main" val="429428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4BDBC-65D8-426E-AF81-1FE573F9D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05069"/>
            <a:ext cx="8596668" cy="4404049"/>
          </a:xfrm>
        </p:spPr>
        <p:txBody>
          <a:bodyPr>
            <a:normAutofit/>
          </a:bodyPr>
          <a:lstStyle/>
          <a:p>
            <a:r>
              <a:rPr lang="en-IN" b="1" dirty="0"/>
              <a:t>4th Generation Computers (1971–Present)</a:t>
            </a:r>
          </a:p>
          <a:p>
            <a:r>
              <a:rPr lang="en-IN" b="1" dirty="0"/>
              <a:t>Technology Used:</a:t>
            </a:r>
            <a:r>
              <a:rPr lang="en-IN" dirty="0"/>
              <a:t> Microprocessors (first was Intel 4004)</a:t>
            </a:r>
          </a:p>
          <a:p>
            <a:r>
              <a:rPr lang="en-IN" b="1" dirty="0"/>
              <a:t>Programming Language:</a:t>
            </a:r>
            <a:r>
              <a:rPr lang="en-IN" dirty="0"/>
              <a:t> All modern programming languages</a:t>
            </a:r>
          </a:p>
          <a:p>
            <a:r>
              <a:rPr lang="en-IN" b="1" dirty="0"/>
              <a:t>Size:</a:t>
            </a:r>
            <a:r>
              <a:rPr lang="en-IN" dirty="0"/>
              <a:t> Very small – personal computers</a:t>
            </a:r>
          </a:p>
          <a:p>
            <a:r>
              <a:rPr lang="en-IN" b="1" dirty="0"/>
              <a:t>Speed:</a:t>
            </a:r>
            <a:r>
              <a:rPr lang="en-IN" dirty="0"/>
              <a:t> Very high processing speed</a:t>
            </a:r>
          </a:p>
          <a:p>
            <a:r>
              <a:rPr lang="en-IN" b="1" dirty="0"/>
              <a:t>Examples:</a:t>
            </a:r>
            <a:r>
              <a:rPr lang="en-IN" dirty="0"/>
              <a:t> Desktop computers, laptops, tablets</a:t>
            </a:r>
          </a:p>
          <a:p>
            <a:r>
              <a:rPr lang="en-IN" b="1" dirty="0"/>
              <a:t>Advantages:</a:t>
            </a:r>
            <a:endParaRPr lang="en-IN" dirty="0"/>
          </a:p>
          <a:p>
            <a:r>
              <a:rPr lang="en-IN" dirty="0"/>
              <a:t>Affordable for personal use</a:t>
            </a:r>
          </a:p>
          <a:p>
            <a:r>
              <a:rPr lang="en-IN" dirty="0"/>
              <a:t>Highly reliable</a:t>
            </a:r>
          </a:p>
          <a:p>
            <a:r>
              <a:rPr lang="en-US" dirty="0"/>
              <a:t>Use of GUI (Graphical User Interface), mouse, keyboard</a:t>
            </a:r>
          </a:p>
        </p:txBody>
      </p:sp>
    </p:spTree>
    <p:extLst>
      <p:ext uri="{BB962C8B-B14F-4D97-AF65-F5344CB8AC3E}">
        <p14:creationId xmlns:p14="http://schemas.microsoft.com/office/powerpoint/2010/main" val="4004147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CFEC-E319-453A-89F9-8B88521B1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05069"/>
            <a:ext cx="8596668" cy="5136293"/>
          </a:xfrm>
        </p:spPr>
        <p:txBody>
          <a:bodyPr>
            <a:normAutofit/>
          </a:bodyPr>
          <a:lstStyle/>
          <a:p>
            <a:r>
              <a:rPr lang="en-IN" b="1" dirty="0"/>
              <a:t>5th Generation Computers (Present &amp; Beyond)</a:t>
            </a:r>
          </a:p>
          <a:p>
            <a:r>
              <a:rPr lang="en-IN" b="1" dirty="0"/>
              <a:t>Technology Used:</a:t>
            </a:r>
            <a:r>
              <a:rPr lang="en-IN" dirty="0"/>
              <a:t> Artificial Intelligence (AI), robotics, cloud computing, quantum computing</a:t>
            </a:r>
          </a:p>
          <a:p>
            <a:r>
              <a:rPr lang="en-IN" b="1" dirty="0"/>
              <a:t>Programming Concepts:</a:t>
            </a:r>
            <a:r>
              <a:rPr lang="en-IN" dirty="0"/>
              <a:t> Machine learning, Natural Language Processing (NLP)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r>
              <a:rPr lang="en-IN" dirty="0"/>
              <a:t>Self-learning systems</a:t>
            </a:r>
          </a:p>
          <a:p>
            <a:r>
              <a:rPr lang="en-IN" dirty="0"/>
              <a:t>Voice and image recognition</a:t>
            </a:r>
          </a:p>
          <a:p>
            <a:r>
              <a:rPr lang="en-IN" dirty="0"/>
              <a:t>Real-time processing</a:t>
            </a:r>
          </a:p>
          <a:p>
            <a:r>
              <a:rPr lang="en-IN" b="1" dirty="0"/>
              <a:t>Examples:</a:t>
            </a:r>
            <a:r>
              <a:rPr lang="en-IN" dirty="0"/>
              <a:t> AI assistants (Alexa, Siri), smart robots, quantum computers</a:t>
            </a:r>
          </a:p>
          <a:p>
            <a:r>
              <a:rPr lang="en-IN" b="1" dirty="0"/>
              <a:t>Advantages:</a:t>
            </a:r>
          </a:p>
          <a:p>
            <a:pPr lvl="1"/>
            <a:r>
              <a:rPr lang="en-IN" dirty="0"/>
              <a:t>Intelligent decision making</a:t>
            </a:r>
          </a:p>
          <a:p>
            <a:pPr lvl="1"/>
            <a:r>
              <a:rPr lang="en-IN" dirty="0"/>
              <a:t>Automation of complex tasks</a:t>
            </a:r>
          </a:p>
          <a:p>
            <a:pPr lvl="1"/>
            <a:r>
              <a:rPr lang="en-US" dirty="0"/>
              <a:t>IoT (Internet of Things) integration</a:t>
            </a:r>
          </a:p>
        </p:txBody>
      </p:sp>
    </p:spTree>
    <p:extLst>
      <p:ext uri="{BB962C8B-B14F-4D97-AF65-F5344CB8AC3E}">
        <p14:creationId xmlns:p14="http://schemas.microsoft.com/office/powerpoint/2010/main" val="437066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FEA4-1B45-42AB-8E19-01FC8E60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976"/>
          </a:xfrm>
        </p:spPr>
        <p:txBody>
          <a:bodyPr/>
          <a:lstStyle/>
          <a:p>
            <a:r>
              <a:rPr lang="en-US" b="1" dirty="0"/>
              <a:t>What is CPU?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1790-56C9-436D-9B5A-20B3D244F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0181"/>
            <a:ext cx="8596668" cy="43711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CPU (Central Processing Unit)</a:t>
            </a:r>
            <a:r>
              <a:rPr lang="en-US" dirty="0"/>
              <a:t> is known as the </a:t>
            </a:r>
            <a:r>
              <a:rPr lang="en-US" b="1" dirty="0"/>
              <a:t>“Brain of the Computer”</a:t>
            </a:r>
            <a:r>
              <a:rPr lang="en-US" dirty="0"/>
              <a:t>. It is responsible for performing all calculations, processing data, and controlling all the operations of the computer system.</a:t>
            </a:r>
          </a:p>
          <a:p>
            <a:r>
              <a:rPr lang="en-US" dirty="0"/>
              <a:t>It processes the instructions given by the user and executes them.</a:t>
            </a:r>
          </a:p>
          <a:p>
            <a:r>
              <a:rPr lang="en-US" b="1" dirty="0"/>
              <a:t>Major Functions of CPU:</a:t>
            </a:r>
          </a:p>
          <a:p>
            <a:r>
              <a:rPr lang="en-US" b="1" dirty="0"/>
              <a:t>Processing Data:</a:t>
            </a:r>
            <a:br>
              <a:rPr lang="en-US" dirty="0"/>
            </a:br>
            <a:r>
              <a:rPr lang="en-US" dirty="0"/>
              <a:t>It processes the data according to the given instructions.</a:t>
            </a:r>
          </a:p>
          <a:p>
            <a:r>
              <a:rPr lang="en-US" b="1" dirty="0"/>
              <a:t>Controlling Operations:</a:t>
            </a:r>
            <a:br>
              <a:rPr lang="en-US" dirty="0"/>
            </a:br>
            <a:r>
              <a:rPr lang="en-US" dirty="0"/>
              <a:t>It controls the working of all parts of the computer.</a:t>
            </a:r>
          </a:p>
          <a:p>
            <a:r>
              <a:rPr lang="en-US" b="1" dirty="0"/>
              <a:t>Performing Calculations:</a:t>
            </a:r>
            <a:br>
              <a:rPr lang="en-US" dirty="0"/>
            </a:br>
            <a:r>
              <a:rPr lang="en-US" dirty="0"/>
              <a:t>It performs arithmetic and logical operations.</a:t>
            </a:r>
          </a:p>
          <a:p>
            <a:r>
              <a:rPr lang="en-US" b="1" dirty="0"/>
              <a:t>Fetching &amp; Executing Instructions:</a:t>
            </a:r>
            <a:br>
              <a:rPr lang="en-US" dirty="0"/>
            </a:br>
            <a:r>
              <a:rPr lang="en-US" dirty="0"/>
              <a:t>It fetches instructions from memory and executes them step-by-step.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273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C991-FD3E-4EF3-9800-8F765858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0661"/>
          </a:xfrm>
        </p:spPr>
        <p:txBody>
          <a:bodyPr/>
          <a:lstStyle/>
          <a:p>
            <a:r>
              <a:rPr lang="en-US" b="1" dirty="0"/>
              <a:t>Main Components of CPU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F4E4-A971-47DC-82BB-B13484B6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0261"/>
            <a:ext cx="8596668" cy="46511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CPU is mainly divided into </a:t>
            </a:r>
            <a:r>
              <a:rPr lang="en-US" b="1" dirty="0"/>
              <a:t>three parts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ALU (Arithmetic and Logic Unit)</a:t>
            </a:r>
          </a:p>
          <a:p>
            <a:r>
              <a:rPr lang="en-US" dirty="0"/>
              <a:t>Performs all </a:t>
            </a:r>
            <a:r>
              <a:rPr lang="en-US" b="1" dirty="0"/>
              <a:t>arithmetic operations</a:t>
            </a:r>
            <a:r>
              <a:rPr lang="en-US" dirty="0"/>
              <a:t> like addition, subtraction, multiplication, division.</a:t>
            </a:r>
          </a:p>
          <a:p>
            <a:r>
              <a:rPr lang="en-US" dirty="0"/>
              <a:t>Performs </a:t>
            </a:r>
            <a:r>
              <a:rPr lang="en-US" b="1" dirty="0"/>
              <a:t>logical operations</a:t>
            </a:r>
            <a:r>
              <a:rPr lang="en-US" dirty="0"/>
              <a:t> like comparison (greater than, less than, equal to).</a:t>
            </a:r>
          </a:p>
          <a:p>
            <a:r>
              <a:rPr lang="en-US" dirty="0"/>
              <a:t>It is the </a:t>
            </a:r>
            <a:r>
              <a:rPr lang="en-US" b="1" dirty="0"/>
              <a:t>calculating unit</a:t>
            </a:r>
            <a:r>
              <a:rPr lang="en-US" dirty="0"/>
              <a:t> of the CPU.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CU (Control Unit)</a:t>
            </a:r>
          </a:p>
          <a:p>
            <a:r>
              <a:rPr lang="en-US" dirty="0"/>
              <a:t>Manages and controls all activities inside the computer.</a:t>
            </a:r>
          </a:p>
          <a:p>
            <a:r>
              <a:rPr lang="en-US" dirty="0"/>
              <a:t>It directs the flow of data between memory, ALU, and input/output devices.</a:t>
            </a:r>
          </a:p>
          <a:p>
            <a:r>
              <a:rPr lang="en-US" dirty="0"/>
              <a:t>Does </a:t>
            </a:r>
            <a:r>
              <a:rPr lang="en-US" b="1" dirty="0"/>
              <a:t>not process</a:t>
            </a:r>
            <a:r>
              <a:rPr lang="en-US" dirty="0"/>
              <a:t> data itself but </a:t>
            </a:r>
            <a:r>
              <a:rPr lang="en-US" b="1" dirty="0"/>
              <a:t>controls</a:t>
            </a:r>
            <a:r>
              <a:rPr lang="en-US" dirty="0"/>
              <a:t> how other parts work.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Registers</a:t>
            </a:r>
          </a:p>
          <a:p>
            <a:r>
              <a:rPr lang="en-US" dirty="0"/>
              <a:t>Small high-speed memory inside the CPU.</a:t>
            </a:r>
          </a:p>
          <a:p>
            <a:r>
              <a:rPr lang="en-US" dirty="0"/>
              <a:t>Temporarily stores data, instructions, or results during processing.</a:t>
            </a:r>
          </a:p>
          <a:p>
            <a:r>
              <a:rPr lang="en-US" dirty="0"/>
              <a:t>Faster than RAM and helps in </a:t>
            </a:r>
            <a:r>
              <a:rPr lang="en-US" b="1" dirty="0"/>
              <a:t>quick access</a:t>
            </a:r>
            <a:r>
              <a:rPr lang="en-US" dirty="0"/>
              <a:t> to frequently used data.</a:t>
            </a:r>
          </a:p>
        </p:txBody>
      </p:sp>
    </p:spTree>
    <p:extLst>
      <p:ext uri="{BB962C8B-B14F-4D97-AF65-F5344CB8AC3E}">
        <p14:creationId xmlns:p14="http://schemas.microsoft.com/office/powerpoint/2010/main" val="3035557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8EC1-44CD-4072-92E7-ADC0C288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39755"/>
            <a:ext cx="8596668" cy="5201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How CPU Works (In Simple Steps):</a:t>
            </a:r>
          </a:p>
          <a:p>
            <a:r>
              <a:rPr lang="en-US" b="1" dirty="0"/>
              <a:t>Fetch</a:t>
            </a:r>
            <a:r>
              <a:rPr lang="en-US" dirty="0"/>
              <a:t> – The control unit fetches instructions from memory.</a:t>
            </a:r>
          </a:p>
          <a:p>
            <a:r>
              <a:rPr lang="en-US" b="1" dirty="0"/>
              <a:t>Decode</a:t>
            </a:r>
            <a:r>
              <a:rPr lang="en-US" dirty="0"/>
              <a:t> – The instruction is decoded to understand the operation.</a:t>
            </a:r>
          </a:p>
          <a:p>
            <a:r>
              <a:rPr lang="en-US" b="1" dirty="0"/>
              <a:t>Execute</a:t>
            </a:r>
            <a:r>
              <a:rPr lang="en-US" dirty="0"/>
              <a:t> – ALU executes the instruction.</a:t>
            </a:r>
          </a:p>
          <a:p>
            <a:r>
              <a:rPr lang="en-US" b="1" dirty="0"/>
              <a:t>Store</a:t>
            </a:r>
            <a:r>
              <a:rPr lang="en-US" dirty="0"/>
              <a:t> – Result is stored in memory or sent to output.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Important Points:</a:t>
            </a:r>
          </a:p>
          <a:p>
            <a:r>
              <a:rPr lang="en-US" dirty="0"/>
              <a:t>CPU is installed on the </a:t>
            </a:r>
            <a:r>
              <a:rPr lang="en-US" b="1" dirty="0"/>
              <a:t>motherboard</a:t>
            </a:r>
            <a:r>
              <a:rPr lang="en-US" dirty="0"/>
              <a:t>.</a:t>
            </a:r>
          </a:p>
          <a:p>
            <a:r>
              <a:rPr lang="en-US" dirty="0"/>
              <a:t>The performance of a computer depends largely on the </a:t>
            </a:r>
            <a:r>
              <a:rPr lang="en-US" b="1" dirty="0"/>
              <a:t>speed and power of the CPU</a:t>
            </a:r>
            <a:r>
              <a:rPr lang="en-US" dirty="0"/>
              <a:t>.</a:t>
            </a:r>
          </a:p>
          <a:p>
            <a:r>
              <a:rPr lang="en-US" dirty="0"/>
              <a:t>CPU speed is measured in </a:t>
            </a:r>
            <a:r>
              <a:rPr lang="en-US" b="1" dirty="0"/>
              <a:t>GHz (Gigahertz)</a:t>
            </a:r>
            <a:r>
              <a:rPr lang="en-US" dirty="0"/>
              <a:t>.</a:t>
            </a:r>
          </a:p>
          <a:p>
            <a:r>
              <a:rPr lang="en-US" dirty="0"/>
              <a:t>Modern CPUs are </a:t>
            </a:r>
            <a:r>
              <a:rPr lang="en-US" b="1" dirty="0"/>
              <a:t>multi-core</a:t>
            </a:r>
            <a:r>
              <a:rPr lang="en-US" dirty="0"/>
              <a:t>, meaning multiple processing units in one chip (like Dual-core, Quad-core).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294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8776-3356-4E39-904F-CF02386D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4637"/>
          </a:xfrm>
        </p:spPr>
        <p:txBody>
          <a:bodyPr/>
          <a:lstStyle/>
          <a:p>
            <a:r>
              <a:rPr lang="en-US" b="1" dirty="0"/>
              <a:t>What are Input Devices?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D121-6759-433A-8D90-38833A75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4237"/>
            <a:ext cx="8596668" cy="456712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Input Devices</a:t>
            </a:r>
            <a:r>
              <a:rPr lang="en-US" dirty="0"/>
              <a:t> are hardware components that are used to </a:t>
            </a:r>
            <a:r>
              <a:rPr lang="en-US" b="1" dirty="0"/>
              <a:t>enter data and instructions</a:t>
            </a:r>
            <a:r>
              <a:rPr lang="en-US" dirty="0"/>
              <a:t> into the computer system for processing.</a:t>
            </a:r>
          </a:p>
          <a:p>
            <a:r>
              <a:rPr lang="en-US" dirty="0"/>
              <a:t>These devices allow the user to interact with the computer by providing raw data, which is later processed by the CPU.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Functions of Input Devices:</a:t>
            </a:r>
          </a:p>
          <a:p>
            <a:r>
              <a:rPr lang="en-US" dirty="0"/>
              <a:t>Accept data from the user.</a:t>
            </a:r>
          </a:p>
          <a:p>
            <a:r>
              <a:rPr lang="en-US" dirty="0"/>
              <a:t>Convert human-readable data into machine-readable form (binary).</a:t>
            </a:r>
          </a:p>
          <a:p>
            <a:r>
              <a:rPr lang="en-US" dirty="0"/>
              <a:t>Send data and instructions to the CPU for processing.</a:t>
            </a:r>
          </a:p>
          <a:p>
            <a:pPr marL="0" indent="0">
              <a:buNone/>
            </a:pPr>
            <a:r>
              <a:rPr lang="en-IN" sz="1900" b="1" dirty="0">
                <a:solidFill>
                  <a:srgbClr val="0070C0"/>
                </a:solidFill>
              </a:rPr>
              <a:t>Commonly Used Input Devices:</a:t>
            </a:r>
            <a:endParaRPr lang="en-US" sz="19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Keyboard</a:t>
            </a:r>
          </a:p>
          <a:p>
            <a:r>
              <a:rPr lang="en-US" dirty="0"/>
              <a:t>Most commonly used input device.</a:t>
            </a:r>
          </a:p>
          <a:p>
            <a:r>
              <a:rPr lang="en-US" dirty="0"/>
              <a:t>Used to type letters, numbers, and symbols.</a:t>
            </a:r>
          </a:p>
          <a:p>
            <a:r>
              <a:rPr lang="en-US" dirty="0"/>
              <a:t>Contains keys like alphabets (A–Z), numbers (0–9), function keys (F1–F12), special keys (Enter, Shift, Ctrl).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213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AFC5-5236-413B-A3E3-283833BE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61053"/>
            <a:ext cx="8596668" cy="50803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Mouse</a:t>
            </a:r>
          </a:p>
          <a:p>
            <a:r>
              <a:rPr lang="en-US" dirty="0"/>
              <a:t>A pointing device used to control the pointer on the screen.</a:t>
            </a:r>
          </a:p>
          <a:p>
            <a:r>
              <a:rPr lang="en-US" dirty="0"/>
              <a:t>Used for clicking, selecting, dragging, and scrolling.</a:t>
            </a:r>
          </a:p>
          <a:p>
            <a:r>
              <a:rPr lang="en-US" dirty="0"/>
              <a:t>Contains left button, right button, and scroll wheel.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Scanner</a:t>
            </a:r>
          </a:p>
          <a:p>
            <a:r>
              <a:rPr lang="en-US" dirty="0"/>
              <a:t>Used to convert physical documents or images into digital form.</a:t>
            </a:r>
          </a:p>
          <a:p>
            <a:r>
              <a:rPr lang="en-US" dirty="0"/>
              <a:t>Scanned files can be edited, saved, or shared easily.</a:t>
            </a:r>
          </a:p>
          <a:p>
            <a:r>
              <a:rPr lang="en-US" dirty="0"/>
              <a:t>Types: Flatbed Scanner, Hand-held Scanner.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Microphone</a:t>
            </a:r>
          </a:p>
          <a:p>
            <a:r>
              <a:rPr lang="en-US" dirty="0"/>
              <a:t>Used to input </a:t>
            </a:r>
            <a:r>
              <a:rPr lang="en-US" b="1" dirty="0"/>
              <a:t>audio or voice</a:t>
            </a:r>
            <a:r>
              <a:rPr lang="en-US" dirty="0"/>
              <a:t> into the computer.</a:t>
            </a:r>
          </a:p>
          <a:p>
            <a:r>
              <a:rPr lang="en-US" dirty="0"/>
              <a:t>Used in voice recording, video calls, speech recognition.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Webcam</a:t>
            </a:r>
          </a:p>
          <a:p>
            <a:r>
              <a:rPr lang="en-US" dirty="0"/>
              <a:t>Captures live </a:t>
            </a:r>
            <a:r>
              <a:rPr lang="en-US" b="1" dirty="0"/>
              <a:t>video or images</a:t>
            </a:r>
            <a:r>
              <a:rPr lang="en-US" dirty="0"/>
              <a:t>.</a:t>
            </a:r>
          </a:p>
          <a:p>
            <a:r>
              <a:rPr lang="en-US" dirty="0"/>
              <a:t>Commonly used for video conferencing, online classes, streaming.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468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81B17-0FBB-4412-918D-1341F5A4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1763"/>
            <a:ext cx="8596668" cy="5229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Joystick</a:t>
            </a:r>
          </a:p>
          <a:p>
            <a:r>
              <a:rPr lang="en-US" dirty="0"/>
              <a:t>Used to play video games or control simulation software.</a:t>
            </a:r>
          </a:p>
          <a:p>
            <a:r>
              <a:rPr lang="en-US" dirty="0"/>
              <a:t>Works by tilting in different directions.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Touchscreen</a:t>
            </a:r>
          </a:p>
          <a:p>
            <a:r>
              <a:rPr lang="en-US" dirty="0"/>
              <a:t>A display screen that also acts as an input device.</a:t>
            </a:r>
          </a:p>
          <a:p>
            <a:r>
              <a:rPr lang="en-US" dirty="0"/>
              <a:t>Users can give input by touching icons or text directly on the screen.</a:t>
            </a:r>
          </a:p>
          <a:p>
            <a:r>
              <a:rPr lang="en-US" dirty="0"/>
              <a:t>Commonly used in smartphones, tablets, ATMs.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Trackball</a:t>
            </a:r>
          </a:p>
          <a:p>
            <a:r>
              <a:rPr lang="en-US" dirty="0"/>
              <a:t>Similar to a mouse, but with a rotating ball on the top.</a:t>
            </a:r>
          </a:p>
          <a:p>
            <a:r>
              <a:rPr lang="en-US" dirty="0"/>
              <a:t>The ball is rolled using fingers to move the cursor.</a:t>
            </a:r>
          </a:p>
          <a:p>
            <a:r>
              <a:rPr lang="en-US" dirty="0"/>
              <a:t>Often used in laptops or special control systems.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Light Pen</a:t>
            </a:r>
          </a:p>
          <a:p>
            <a:r>
              <a:rPr lang="en-US" dirty="0"/>
              <a:t>A pen-like device used to draw directly on a screen or select objects.</a:t>
            </a:r>
          </a:p>
          <a:p>
            <a:r>
              <a:rPr lang="en-US" dirty="0"/>
              <a:t>Mostly used in design, drawing, or CAD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817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E6E5-19EA-404A-A7C7-E23918A6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826"/>
            <a:ext cx="8596668" cy="3116424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Barcode Reader</a:t>
            </a:r>
          </a:p>
          <a:p>
            <a:r>
              <a:rPr lang="en-US" dirty="0"/>
              <a:t>Used to scan barcodes on products.</a:t>
            </a:r>
          </a:p>
          <a:p>
            <a:r>
              <a:rPr lang="en-US" dirty="0"/>
              <a:t>Commonly used in shopping malls, warehouses, and libraries.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Biometric Devices</a:t>
            </a:r>
          </a:p>
          <a:p>
            <a:r>
              <a:rPr lang="en-US" dirty="0"/>
              <a:t>Used to input personal identification data like fingerprints, iris scan, or facial recognition.</a:t>
            </a:r>
          </a:p>
          <a:p>
            <a:r>
              <a:rPr lang="en-US" dirty="0"/>
              <a:t>Used for security and authentication purposes (e.g., Aadhaar authentication).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953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0DEE-70F6-4A7D-93A5-8B41C420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4008"/>
          </a:xfrm>
        </p:spPr>
        <p:txBody>
          <a:bodyPr/>
          <a:lstStyle/>
          <a:p>
            <a:r>
              <a:rPr lang="en-IN" dirty="0"/>
              <a:t>Output Devices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0921-5356-43C5-9BB7-E7C5F755C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8883"/>
            <a:ext cx="8596668" cy="489857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Output Devices</a:t>
            </a:r>
            <a:r>
              <a:rPr lang="en-US" dirty="0"/>
              <a:t> are hardware components used to </a:t>
            </a:r>
            <a:r>
              <a:rPr lang="en-US" b="1" dirty="0"/>
              <a:t>display, print, or present the results</a:t>
            </a:r>
            <a:r>
              <a:rPr lang="en-US" dirty="0"/>
              <a:t> of data processing performed by the computer.</a:t>
            </a:r>
          </a:p>
          <a:p>
            <a:r>
              <a:rPr lang="en-US" dirty="0"/>
              <a:t>They convert </a:t>
            </a:r>
            <a:r>
              <a:rPr lang="en-US" b="1" dirty="0"/>
              <a:t>machine-readable data</a:t>
            </a:r>
            <a:r>
              <a:rPr lang="en-US" dirty="0"/>
              <a:t> (binary) into </a:t>
            </a:r>
            <a:r>
              <a:rPr lang="en-US" b="1" dirty="0"/>
              <a:t>human-readable form</a:t>
            </a:r>
            <a:r>
              <a:rPr lang="en-US" dirty="0"/>
              <a:t> such as text, images, sound, or printed output.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Functions of Output Devices:</a:t>
            </a:r>
          </a:p>
          <a:p>
            <a:r>
              <a:rPr lang="en-US" dirty="0"/>
              <a:t>Receive processed data from the CPU.</a:t>
            </a:r>
          </a:p>
          <a:p>
            <a:r>
              <a:rPr lang="en-US" dirty="0"/>
              <a:t>Convert it into meaningful output.</a:t>
            </a:r>
          </a:p>
          <a:p>
            <a:r>
              <a:rPr lang="en-US" dirty="0"/>
              <a:t>Present the result to the user in different forms (visual, audio, printed).</a:t>
            </a:r>
          </a:p>
          <a:p>
            <a:r>
              <a:rPr lang="en-IN" dirty="0"/>
              <a:t>Types of Output Devices:</a:t>
            </a:r>
          </a:p>
          <a:p>
            <a:pPr marL="0" indent="0">
              <a:buNone/>
            </a:pPr>
            <a:r>
              <a:rPr lang="en-IN" sz="1900" b="1" dirty="0">
                <a:solidFill>
                  <a:srgbClr val="0070C0"/>
                </a:solidFill>
              </a:rPr>
              <a:t>Monitor (Visual Display Unit – VDU)</a:t>
            </a:r>
          </a:p>
          <a:p>
            <a:r>
              <a:rPr lang="en-IN" dirty="0"/>
              <a:t>Displays </a:t>
            </a:r>
            <a:r>
              <a:rPr lang="en-IN" b="1" dirty="0"/>
              <a:t>visual output</a:t>
            </a:r>
            <a:r>
              <a:rPr lang="en-IN" dirty="0"/>
              <a:t> from the computer (text, graphics, videos).</a:t>
            </a:r>
          </a:p>
          <a:p>
            <a:r>
              <a:rPr lang="en-IN" dirty="0"/>
              <a:t>Comes in different types:</a:t>
            </a:r>
          </a:p>
          <a:p>
            <a:pPr lvl="1"/>
            <a:r>
              <a:rPr lang="en-IN" b="1" dirty="0"/>
              <a:t>CRT (Cathode Ray Tube)</a:t>
            </a:r>
            <a:r>
              <a:rPr lang="en-IN" dirty="0"/>
              <a:t> – Old, bulky.</a:t>
            </a:r>
          </a:p>
          <a:p>
            <a:pPr lvl="1"/>
            <a:r>
              <a:rPr lang="en-IN" b="1" dirty="0"/>
              <a:t>LCD (Liquid Crystal Display)</a:t>
            </a:r>
            <a:r>
              <a:rPr lang="en-IN" dirty="0"/>
              <a:t> – Slim, energy-efficient.</a:t>
            </a:r>
          </a:p>
          <a:p>
            <a:pPr lvl="1"/>
            <a:r>
              <a:rPr lang="en-IN" b="1" dirty="0"/>
              <a:t>LED (Light Emitting Diode)</a:t>
            </a:r>
            <a:r>
              <a:rPr lang="en-IN" dirty="0"/>
              <a:t> – Brighter, modern displays.</a:t>
            </a:r>
          </a:p>
          <a:p>
            <a:r>
              <a:rPr lang="en-US" dirty="0"/>
              <a:t>Acts as a primary output device.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238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67AB-5BB9-4A3C-9909-C455EF43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0070C0"/>
                </a:solidFill>
              </a:rPr>
              <a:t>Printer</a:t>
            </a:r>
          </a:p>
          <a:p>
            <a:r>
              <a:rPr lang="en-US" dirty="0"/>
              <a:t>Used to get </a:t>
            </a:r>
            <a:r>
              <a:rPr lang="en-US" b="1" dirty="0"/>
              <a:t>hard copy</a:t>
            </a:r>
            <a:r>
              <a:rPr lang="en-US" dirty="0"/>
              <a:t> (printed form) of documents or images.</a:t>
            </a:r>
          </a:p>
          <a:p>
            <a:r>
              <a:rPr lang="en-US" dirty="0"/>
              <a:t>Converts digital data into printed text or graphics on paper.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B8D084-A8C7-41CF-B63E-FD6598BB6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70813"/>
              </p:ext>
            </p:extLst>
          </p:nvPr>
        </p:nvGraphicFramePr>
        <p:xfrm>
          <a:off x="838200" y="3269774"/>
          <a:ext cx="8435802" cy="1463040"/>
        </p:xfrm>
        <a:graphic>
          <a:graphicData uri="http://schemas.openxmlformats.org/drawingml/2006/table">
            <a:tbl>
              <a:tblPr/>
              <a:tblGrid>
                <a:gridCol w="2179436">
                  <a:extLst>
                    <a:ext uri="{9D8B030D-6E8A-4147-A177-3AD203B41FA5}">
                      <a16:colId xmlns:a16="http://schemas.microsoft.com/office/drawing/2014/main" val="1739774597"/>
                    </a:ext>
                  </a:extLst>
                </a:gridCol>
                <a:gridCol w="6256366">
                  <a:extLst>
                    <a:ext uri="{9D8B030D-6E8A-4147-A177-3AD203B41FA5}">
                      <a16:colId xmlns:a16="http://schemas.microsoft.com/office/drawing/2014/main" val="378910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54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Inkjet Printer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Sprays ink, good for home use.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48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Laser Printer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laser technology, fast and clear.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697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Dot Matrix Printer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pins and ink ribbon, used in bill printing.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2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642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93377-728B-46F5-B4FC-16A838626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42392"/>
            <a:ext cx="8596668" cy="50989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Speakers</a:t>
            </a:r>
          </a:p>
          <a:p>
            <a:r>
              <a:rPr lang="en-US" dirty="0"/>
              <a:t>Output device for </a:t>
            </a:r>
            <a:r>
              <a:rPr lang="en-US" b="1" dirty="0"/>
              <a:t>sound/audio</a:t>
            </a:r>
            <a:r>
              <a:rPr lang="en-US" dirty="0"/>
              <a:t>.</a:t>
            </a:r>
          </a:p>
          <a:p>
            <a:r>
              <a:rPr lang="en-US" dirty="0"/>
              <a:t>Plays music, system sounds, videos, etc.</a:t>
            </a:r>
          </a:p>
          <a:p>
            <a:r>
              <a:rPr lang="en-US" dirty="0"/>
              <a:t>Often used in multimedia systems, games, and video calls.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Headphones/Earphones</a:t>
            </a:r>
          </a:p>
          <a:p>
            <a:r>
              <a:rPr lang="en-US" dirty="0"/>
              <a:t>Personal audio output devices.</a:t>
            </a:r>
          </a:p>
          <a:p>
            <a:r>
              <a:rPr lang="en-US" dirty="0"/>
              <a:t>Allow only the user to hear sound privately.</a:t>
            </a:r>
          </a:p>
          <a:p>
            <a:r>
              <a:rPr lang="en-US" dirty="0"/>
              <a:t>Useful for online classes, meetings, and listening to music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Projector</a:t>
            </a:r>
          </a:p>
          <a:p>
            <a:r>
              <a:rPr lang="en-US" dirty="0"/>
              <a:t>Projects the output (from a monitor or computer) onto a </a:t>
            </a:r>
            <a:r>
              <a:rPr lang="en-US" b="1" dirty="0"/>
              <a:t>large screen or wall</a:t>
            </a:r>
            <a:r>
              <a:rPr lang="en-US" dirty="0"/>
              <a:t>.</a:t>
            </a:r>
          </a:p>
          <a:p>
            <a:r>
              <a:rPr lang="en-US" dirty="0"/>
              <a:t>Used in classrooms, seminars, conferences.</a:t>
            </a:r>
          </a:p>
          <a:p>
            <a:r>
              <a:rPr lang="en-US" dirty="0"/>
              <a:t>Helps in group presentations and public viewing.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642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C048E-D700-4D4F-A6AA-387C61F67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32" y="1987420"/>
            <a:ext cx="8596668" cy="288316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070C0"/>
                </a:solidFill>
              </a:rPr>
              <a:t>Plotter</a:t>
            </a:r>
          </a:p>
          <a:p>
            <a:r>
              <a:rPr lang="en-US" dirty="0"/>
              <a:t>Special type of printer used to print </a:t>
            </a:r>
            <a:r>
              <a:rPr lang="en-US" b="1" dirty="0"/>
              <a:t>large-sized drawings or graphics</a:t>
            </a:r>
            <a:r>
              <a:rPr lang="en-US" dirty="0"/>
              <a:t> like maps, engineering designs, architectural plans.</a:t>
            </a:r>
          </a:p>
          <a:p>
            <a:r>
              <a:rPr lang="en-US" dirty="0"/>
              <a:t>Used by engineers, architects, and designers.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070C0"/>
                </a:solidFill>
              </a:rPr>
              <a:t>Braille Display (for Visually Impaired)</a:t>
            </a:r>
          </a:p>
          <a:p>
            <a:r>
              <a:rPr lang="en-US" dirty="0"/>
              <a:t>Converts digital text into </a:t>
            </a:r>
            <a:r>
              <a:rPr lang="en-US" b="1" dirty="0"/>
              <a:t>Braille script</a:t>
            </a:r>
            <a:r>
              <a:rPr lang="en-US" dirty="0"/>
              <a:t> using raised dots.</a:t>
            </a:r>
          </a:p>
          <a:p>
            <a:r>
              <a:rPr lang="en-US" dirty="0"/>
              <a:t>Helps visually impaired users to read digital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563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7837-2F19-44ED-9492-76676E09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029"/>
            <a:ext cx="8596668" cy="789992"/>
          </a:xfrm>
        </p:spPr>
        <p:txBody>
          <a:bodyPr/>
          <a:lstStyle/>
          <a:p>
            <a:r>
              <a:rPr lang="en-IN" dirty="0"/>
              <a:t>What is Memory?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08707-3C19-4962-B2C7-95F5D2AA9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8" y="1073021"/>
            <a:ext cx="9838267" cy="51971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Computer memory is a component that stores </a:t>
            </a:r>
            <a:r>
              <a:rPr lang="en-US" b="1" dirty="0"/>
              <a:t>data, instructions, and information</a:t>
            </a:r>
            <a:r>
              <a:rPr lang="en-US" dirty="0"/>
              <a:t> either temporarily or permanently. It plays a vital role in the overall performance of a computer.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Types of Memory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1. Primary Memory (Main Memory)</a:t>
            </a:r>
          </a:p>
          <a:p>
            <a:pPr marL="0" indent="0">
              <a:buNone/>
            </a:pPr>
            <a:r>
              <a:rPr lang="en-US" dirty="0"/>
              <a:t>This is the main working memory of the computer. It is </a:t>
            </a:r>
            <a:r>
              <a:rPr lang="en-US" b="1" dirty="0"/>
              <a:t>directly accessible by the CPU</a:t>
            </a:r>
            <a:r>
              <a:rPr lang="en-US" dirty="0"/>
              <a:t>, faster but limited in capacity.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Types of Primary Memory: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a) RAM (Random Access Memory)</a:t>
            </a:r>
          </a:p>
          <a:p>
            <a:pPr lvl="1"/>
            <a:r>
              <a:rPr lang="en-US" b="1" dirty="0"/>
              <a:t>Volatile</a:t>
            </a:r>
            <a:r>
              <a:rPr lang="en-US" dirty="0"/>
              <a:t> memory (data is lost when power is off)</a:t>
            </a:r>
          </a:p>
          <a:p>
            <a:pPr lvl="1"/>
            <a:r>
              <a:rPr lang="en-US" dirty="0"/>
              <a:t>Temporarily holds data and programs currently in use</a:t>
            </a:r>
          </a:p>
          <a:p>
            <a:pPr lvl="1"/>
            <a:r>
              <a:rPr lang="en-US" dirty="0"/>
              <a:t>Allows both read and write operations</a:t>
            </a:r>
          </a:p>
          <a:p>
            <a:pPr lvl="1"/>
            <a:r>
              <a:rPr lang="en-US" dirty="0"/>
              <a:t>More RAM = better multitasking</a:t>
            </a:r>
          </a:p>
          <a:p>
            <a:pPr lvl="1"/>
            <a:r>
              <a:rPr lang="en-US" dirty="0"/>
              <a:t>Example: When you open an app or a browser tab, it runs in RAM.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b) ROM (Read-Only Memory)</a:t>
            </a:r>
          </a:p>
          <a:p>
            <a:pPr lvl="1"/>
            <a:r>
              <a:rPr lang="en-US" b="1" dirty="0"/>
              <a:t>Non-volatile</a:t>
            </a:r>
            <a:r>
              <a:rPr lang="en-US" dirty="0"/>
              <a:t> memory (data remains even after shutdown)</a:t>
            </a:r>
          </a:p>
          <a:p>
            <a:pPr lvl="1"/>
            <a:r>
              <a:rPr lang="en-US" dirty="0"/>
              <a:t>Stores </a:t>
            </a:r>
            <a:r>
              <a:rPr lang="en-US" b="1" dirty="0"/>
              <a:t>firmware</a:t>
            </a:r>
            <a:r>
              <a:rPr lang="en-US" dirty="0"/>
              <a:t> or system instructions like the BIOS</a:t>
            </a:r>
          </a:p>
          <a:p>
            <a:pPr lvl="1"/>
            <a:r>
              <a:rPr lang="en-US" dirty="0"/>
              <a:t>Data is mostly written during manufacturing</a:t>
            </a:r>
          </a:p>
          <a:p>
            <a:pPr lvl="1"/>
            <a:r>
              <a:rPr lang="en-US" dirty="0"/>
              <a:t>Cannot be modified easily</a:t>
            </a:r>
          </a:p>
          <a:p>
            <a:pPr lvl="1"/>
            <a:r>
              <a:rPr lang="en-US" dirty="0"/>
              <a:t>It helps in booting up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211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F758-BFD5-47E7-94A6-4A8540B0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7355"/>
          </a:xfrm>
        </p:spPr>
        <p:txBody>
          <a:bodyPr/>
          <a:lstStyle/>
          <a:p>
            <a:r>
              <a:rPr lang="en-US" b="1" dirty="0"/>
              <a:t>Secondary Memory (Storage Devices)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57F6-D1AE-4109-92D2-8D8A00AC4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89" y="1764057"/>
            <a:ext cx="8596668" cy="1277723"/>
          </a:xfrm>
        </p:spPr>
        <p:txBody>
          <a:bodyPr/>
          <a:lstStyle/>
          <a:p>
            <a:r>
              <a:rPr lang="en-US" dirty="0"/>
              <a:t>This memory is used to </a:t>
            </a:r>
            <a:r>
              <a:rPr lang="en-US" b="1" dirty="0"/>
              <a:t>store data permanently</a:t>
            </a:r>
            <a:r>
              <a:rPr lang="en-US" dirty="0"/>
              <a:t>. It is not directly accessed by the CPU — data is first transferred to RAM.</a:t>
            </a:r>
          </a:p>
          <a:p>
            <a:r>
              <a:rPr lang="en-IN" dirty="0"/>
              <a:t>Examples of Secondary Memory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B670DB-7A60-4DC1-B9E5-9E6909D9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173909"/>
              </p:ext>
            </p:extLst>
          </p:nvPr>
        </p:nvGraphicFramePr>
        <p:xfrm>
          <a:off x="845910" y="3116424"/>
          <a:ext cx="8596670" cy="2545235"/>
        </p:xfrm>
        <a:graphic>
          <a:graphicData uri="http://schemas.openxmlformats.org/drawingml/2006/table">
            <a:tbl>
              <a:tblPr/>
              <a:tblGrid>
                <a:gridCol w="4298335">
                  <a:extLst>
                    <a:ext uri="{9D8B030D-6E8A-4147-A177-3AD203B41FA5}">
                      <a16:colId xmlns:a16="http://schemas.microsoft.com/office/drawing/2014/main" val="3631913792"/>
                    </a:ext>
                  </a:extLst>
                </a:gridCol>
                <a:gridCol w="4298335">
                  <a:extLst>
                    <a:ext uri="{9D8B030D-6E8A-4147-A177-3AD203B41FA5}">
                      <a16:colId xmlns:a16="http://schemas.microsoft.com/office/drawing/2014/main" val="681287891"/>
                    </a:ext>
                  </a:extLst>
                </a:gridCol>
              </a:tblGrid>
              <a:tr h="363605">
                <a:tc>
                  <a:txBody>
                    <a:bodyPr/>
                    <a:lstStyle/>
                    <a:p>
                      <a:r>
                        <a:rPr lang="en-IN" sz="1600" dirty="0"/>
                        <a:t>Storage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259616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 dirty="0"/>
                        <a:t>HDD</a:t>
                      </a:r>
                      <a:r>
                        <a:rPr lang="en-IN" sz="1600" dirty="0"/>
                        <a:t> (Hard Disk)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Magnetic disk, large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7769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 dirty="0"/>
                        <a:t>SSD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Faster and more reliable than HDD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138325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 dirty="0"/>
                        <a:t>CD/DVD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Optical media, used for data and videos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117564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/>
                        <a:t>USB Drive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Portable and commonly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977311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/>
                        <a:t>Memory Card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Used in smartphones, cameras,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837597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/>
                        <a:t>External HDD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for backups and large file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189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786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D789-D147-4E25-835D-3A00F424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Difference Between Primary and Secondary Memory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ABD844-072D-4276-88A9-017356597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810431"/>
              </p:ext>
            </p:extLst>
          </p:nvPr>
        </p:nvGraphicFramePr>
        <p:xfrm>
          <a:off x="798632" y="2307107"/>
          <a:ext cx="9371735" cy="2488248"/>
        </p:xfrm>
        <a:graphic>
          <a:graphicData uri="http://schemas.openxmlformats.org/drawingml/2006/table">
            <a:tbl>
              <a:tblPr/>
              <a:tblGrid>
                <a:gridCol w="2348020">
                  <a:extLst>
                    <a:ext uri="{9D8B030D-6E8A-4147-A177-3AD203B41FA5}">
                      <a16:colId xmlns:a16="http://schemas.microsoft.com/office/drawing/2014/main" val="2860394364"/>
                    </a:ext>
                  </a:extLst>
                </a:gridCol>
                <a:gridCol w="3635481">
                  <a:extLst>
                    <a:ext uri="{9D8B030D-6E8A-4147-A177-3AD203B41FA5}">
                      <a16:colId xmlns:a16="http://schemas.microsoft.com/office/drawing/2014/main" val="3691157735"/>
                    </a:ext>
                  </a:extLst>
                </a:gridCol>
                <a:gridCol w="3388234">
                  <a:extLst>
                    <a:ext uri="{9D8B030D-6E8A-4147-A177-3AD203B41FA5}">
                      <a16:colId xmlns:a16="http://schemas.microsoft.com/office/drawing/2014/main" val="977460319"/>
                    </a:ext>
                  </a:extLst>
                </a:gridCol>
              </a:tblGrid>
              <a:tr h="385128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0070C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0070C0"/>
                          </a:solidFill>
                        </a:rPr>
                        <a:t>Primary Memory (RAM/ROM)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Secondary Memory (HDD/SSD)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35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17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Volatility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RAM is volatile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Non-volatile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0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Storage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58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More expensive per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Cheaper per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671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Direct by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direct, accessed via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22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759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1644-50FF-4690-99AA-4D8472829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285" y="1296956"/>
            <a:ext cx="8596668" cy="407747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Cache Memory</a:t>
            </a:r>
          </a:p>
          <a:p>
            <a:r>
              <a:rPr lang="en-US" dirty="0"/>
              <a:t>A </a:t>
            </a:r>
            <a:r>
              <a:rPr lang="en-US" b="1" dirty="0"/>
              <a:t>high-speed</a:t>
            </a:r>
            <a:r>
              <a:rPr lang="en-US" dirty="0"/>
              <a:t> memory located between CPU and RAM</a:t>
            </a:r>
          </a:p>
          <a:p>
            <a:r>
              <a:rPr lang="en-US" dirty="0"/>
              <a:t>Stores frequently accessed data and instructions</a:t>
            </a:r>
          </a:p>
          <a:p>
            <a:r>
              <a:rPr lang="en-US" dirty="0"/>
              <a:t>Much faster than RAM but very small in size</a:t>
            </a:r>
          </a:p>
          <a:p>
            <a:r>
              <a:rPr lang="en-US" dirty="0"/>
              <a:t>Speeds up processing time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Registers</a:t>
            </a:r>
          </a:p>
          <a:p>
            <a:r>
              <a:rPr lang="en-US" b="1" dirty="0"/>
              <a:t>Smallest and fastest memory</a:t>
            </a:r>
            <a:r>
              <a:rPr lang="en-US" dirty="0"/>
              <a:t> inside the CPU</a:t>
            </a:r>
          </a:p>
          <a:p>
            <a:r>
              <a:rPr lang="en-US" dirty="0"/>
              <a:t>Holds data/instructions that the CPU is currently processing</a:t>
            </a:r>
          </a:p>
          <a:p>
            <a:r>
              <a:rPr lang="en-US" dirty="0"/>
              <a:t>Very limited in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254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AB07-0688-49DC-8E3A-151F5655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77" y="398966"/>
            <a:ext cx="8596668" cy="599020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Memory Units (from smallest to largest)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096DFA-54C2-4B7D-AF28-DDC656886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486739"/>
              </p:ext>
            </p:extLst>
          </p:nvPr>
        </p:nvGraphicFramePr>
        <p:xfrm>
          <a:off x="677334" y="1135340"/>
          <a:ext cx="8321502" cy="2926080"/>
        </p:xfrm>
        <a:graphic>
          <a:graphicData uri="http://schemas.openxmlformats.org/drawingml/2006/table">
            <a:tbl>
              <a:tblPr/>
              <a:tblGrid>
                <a:gridCol w="4099939">
                  <a:extLst>
                    <a:ext uri="{9D8B030D-6E8A-4147-A177-3AD203B41FA5}">
                      <a16:colId xmlns:a16="http://schemas.microsoft.com/office/drawing/2014/main" val="1995382111"/>
                    </a:ext>
                  </a:extLst>
                </a:gridCol>
                <a:gridCol w="4221563">
                  <a:extLst>
                    <a:ext uri="{9D8B030D-6E8A-4147-A177-3AD203B41FA5}">
                      <a16:colId xmlns:a16="http://schemas.microsoft.com/office/drawing/2014/main" val="987995142"/>
                    </a:ext>
                  </a:extLst>
                </a:gridCol>
              </a:tblGrid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278005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Smallest unit (0 or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30127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1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99843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1024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474666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1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1024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10842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1024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595447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052783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1 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1024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447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9BA2C6-E0AD-43EA-B6BB-0203869B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664410"/>
              </p:ext>
            </p:extLst>
          </p:nvPr>
        </p:nvGraphicFramePr>
        <p:xfrm>
          <a:off x="677334" y="4797795"/>
          <a:ext cx="8596311" cy="1347893"/>
        </p:xfrm>
        <a:graphic>
          <a:graphicData uri="http://schemas.openxmlformats.org/drawingml/2006/table">
            <a:tbl>
              <a:tblPr/>
              <a:tblGrid>
                <a:gridCol w="2075197">
                  <a:extLst>
                    <a:ext uri="{9D8B030D-6E8A-4147-A177-3AD203B41FA5}">
                      <a16:colId xmlns:a16="http://schemas.microsoft.com/office/drawing/2014/main" val="3046295452"/>
                    </a:ext>
                  </a:extLst>
                </a:gridCol>
                <a:gridCol w="3928187">
                  <a:extLst>
                    <a:ext uri="{9D8B030D-6E8A-4147-A177-3AD203B41FA5}">
                      <a16:colId xmlns:a16="http://schemas.microsoft.com/office/drawing/2014/main" val="3021527786"/>
                    </a:ext>
                  </a:extLst>
                </a:gridCol>
                <a:gridCol w="2592927">
                  <a:extLst>
                    <a:ext uri="{9D8B030D-6E8A-4147-A177-3AD203B41FA5}">
                      <a16:colId xmlns:a16="http://schemas.microsoft.com/office/drawing/2014/main" val="833076981"/>
                    </a:ext>
                  </a:extLst>
                </a:gridCol>
              </a:tblGrid>
              <a:tr h="352213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934631"/>
                  </a:ext>
                </a:extLst>
              </a:tr>
              <a:tr h="616373">
                <a:tc>
                  <a:txBody>
                    <a:bodyPr/>
                    <a:lstStyle/>
                    <a:p>
                      <a:r>
                        <a:rPr lang="en-IN" dirty="0"/>
                        <a:t>Volatile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Loses data when power is turned 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RAM, Cache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95967"/>
                  </a:ext>
                </a:extLst>
              </a:tr>
              <a:tr h="352213">
                <a:tc>
                  <a:txBody>
                    <a:bodyPr/>
                    <a:lstStyle/>
                    <a:p>
                      <a:r>
                        <a:rPr lang="en-IN"/>
                        <a:t>Non-Volatile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Keeps data without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ROM, HDD, SSD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036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F31C3A-241C-4584-B516-C8AFDDA04375}"/>
              </a:ext>
            </a:extLst>
          </p:cNvPr>
          <p:cNvSpPr txBox="1"/>
          <p:nvPr/>
        </p:nvSpPr>
        <p:spPr>
          <a:xfrm>
            <a:off x="677334" y="4198775"/>
            <a:ext cx="7710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Volatile vs Non-Volatile Memory</a:t>
            </a:r>
          </a:p>
        </p:txBody>
      </p:sp>
    </p:spTree>
    <p:extLst>
      <p:ext uri="{BB962C8B-B14F-4D97-AF65-F5344CB8AC3E}">
        <p14:creationId xmlns:p14="http://schemas.microsoft.com/office/powerpoint/2010/main" val="1348771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B0B2-FCB4-4679-B72E-B7C6C3A4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RAM (Random Access Memory)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025F9-C1CB-4E85-B692-74A16F4F0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4279"/>
            <a:ext cx="8596668" cy="470708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There are mainly </a:t>
            </a:r>
            <a:r>
              <a:rPr lang="en-US" b="1" dirty="0"/>
              <a:t>two types</a:t>
            </a:r>
            <a:r>
              <a:rPr lang="en-US" dirty="0"/>
              <a:t> of RAM: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1.1 DRAM (Dynamic RAM)</a:t>
            </a:r>
          </a:p>
          <a:p>
            <a:r>
              <a:rPr lang="en-US" dirty="0"/>
              <a:t>Stores each bit of data in a </a:t>
            </a:r>
            <a:r>
              <a:rPr lang="en-US" b="1" dirty="0"/>
              <a:t>capacitor</a:t>
            </a:r>
            <a:r>
              <a:rPr lang="en-US" dirty="0"/>
              <a:t>.</a:t>
            </a:r>
          </a:p>
          <a:p>
            <a:r>
              <a:rPr lang="en-US" dirty="0"/>
              <a:t>Needs to be </a:t>
            </a:r>
            <a:r>
              <a:rPr lang="en-US" b="1" dirty="0"/>
              <a:t>refreshed continuously</a:t>
            </a:r>
            <a:r>
              <a:rPr lang="en-US" dirty="0"/>
              <a:t> to retain data.</a:t>
            </a:r>
          </a:p>
          <a:p>
            <a:r>
              <a:rPr lang="en-US" b="1" dirty="0"/>
              <a:t>Cheaper and slower</a:t>
            </a:r>
            <a:r>
              <a:rPr lang="en-US" dirty="0"/>
              <a:t> than SRAM.</a:t>
            </a:r>
          </a:p>
          <a:p>
            <a:r>
              <a:rPr lang="en-US" dirty="0"/>
              <a:t>Used in most personal computers.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1.2 SRAM (Static RAM)</a:t>
            </a:r>
          </a:p>
          <a:p>
            <a:r>
              <a:rPr lang="en-US" dirty="0"/>
              <a:t>Stores data using </a:t>
            </a:r>
            <a:r>
              <a:rPr lang="en-US" b="1" dirty="0"/>
              <a:t>flip-flops (transistors)</a:t>
            </a:r>
            <a:r>
              <a:rPr lang="en-US" dirty="0"/>
              <a:t>.</a:t>
            </a:r>
          </a:p>
          <a:p>
            <a:r>
              <a:rPr lang="en-US" b="1" dirty="0"/>
              <a:t>Does not need refreshing</a:t>
            </a:r>
            <a:r>
              <a:rPr lang="en-US" dirty="0"/>
              <a:t>, retains data as long as power is on.</a:t>
            </a:r>
          </a:p>
          <a:p>
            <a:r>
              <a:rPr lang="en-US" b="1" dirty="0"/>
              <a:t>Faster and more expensive</a:t>
            </a:r>
            <a:r>
              <a:rPr lang="en-US" dirty="0"/>
              <a:t> than DRAM.</a:t>
            </a:r>
          </a:p>
          <a:p>
            <a:r>
              <a:rPr lang="en-US" dirty="0"/>
              <a:t>Used in </a:t>
            </a:r>
            <a:r>
              <a:rPr lang="en-US" b="1" dirty="0"/>
              <a:t>cache memory</a:t>
            </a:r>
            <a:r>
              <a:rPr lang="en-US" dirty="0"/>
              <a:t> (inside CPU).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Optional: Other Variants </a:t>
            </a:r>
          </a:p>
          <a:p>
            <a:r>
              <a:rPr lang="en-US" b="1" dirty="0"/>
              <a:t>SDRAM (Synchronous DRAM)</a:t>
            </a:r>
            <a:r>
              <a:rPr lang="en-US" dirty="0"/>
              <a:t> – synchronized with CPU clock.</a:t>
            </a:r>
          </a:p>
          <a:p>
            <a:r>
              <a:rPr lang="en-US" b="1" dirty="0"/>
              <a:t>DDR RAM (Double Data Rate)</a:t>
            </a:r>
            <a:r>
              <a:rPr lang="en-US" dirty="0"/>
              <a:t> – transmits data twice per clock cycle.</a:t>
            </a:r>
          </a:p>
          <a:p>
            <a:r>
              <a:rPr lang="de-DE" dirty="0"/>
              <a:t>DDR2, DDR3, DDR4, DDR5 are faster versions.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864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3671-8E50-43EB-9877-223244AD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3339"/>
          </a:xfrm>
        </p:spPr>
        <p:txBody>
          <a:bodyPr/>
          <a:lstStyle/>
          <a:p>
            <a:r>
              <a:rPr lang="en-US" b="1" dirty="0"/>
              <a:t>What is ROM?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41BF-A3AC-4649-811B-DEF490678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3069771"/>
          </a:xfrm>
        </p:spPr>
        <p:txBody>
          <a:bodyPr/>
          <a:lstStyle/>
          <a:p>
            <a:r>
              <a:rPr lang="en-US" b="1" dirty="0"/>
              <a:t>ROM (Read Only Memory)</a:t>
            </a:r>
            <a:r>
              <a:rPr lang="en-US" dirty="0"/>
              <a:t> is a </a:t>
            </a:r>
            <a:r>
              <a:rPr lang="en-US" b="1" dirty="0"/>
              <a:t>non-volatile memory</a:t>
            </a:r>
            <a:r>
              <a:rPr lang="en-US" dirty="0"/>
              <a:t> used to store </a:t>
            </a:r>
            <a:r>
              <a:rPr lang="en-US" b="1" dirty="0"/>
              <a:t>firmware or system boot instructions</a:t>
            </a:r>
            <a:r>
              <a:rPr lang="en-US" dirty="0"/>
              <a:t>, i.e., data that </a:t>
            </a:r>
            <a:r>
              <a:rPr lang="en-US" b="1" dirty="0"/>
              <a:t>does not change</a:t>
            </a:r>
            <a:r>
              <a:rPr lang="en-US" dirty="0"/>
              <a:t> and is needed to start the computer.</a:t>
            </a:r>
          </a:p>
          <a:p>
            <a:r>
              <a:rPr lang="en-US" b="1" dirty="0">
                <a:solidFill>
                  <a:srgbClr val="0070C0"/>
                </a:solidFill>
              </a:rPr>
              <a:t>Internal Function of ROM:</a:t>
            </a:r>
          </a:p>
          <a:p>
            <a:r>
              <a:rPr lang="en-US" b="1" dirty="0"/>
              <a:t>Stores permanent data</a:t>
            </a:r>
            <a:r>
              <a:rPr lang="en-US" dirty="0"/>
              <a:t> that is written at manufacturing time.</a:t>
            </a:r>
          </a:p>
          <a:p>
            <a:r>
              <a:rPr lang="en-US" dirty="0"/>
              <a:t>Helps computer perform </a:t>
            </a:r>
            <a:r>
              <a:rPr lang="en-US" b="1" dirty="0"/>
              <a:t>POST (Power-On Self-Test)</a:t>
            </a:r>
            <a:r>
              <a:rPr lang="en-US" dirty="0"/>
              <a:t> during startup.</a:t>
            </a:r>
          </a:p>
          <a:p>
            <a:r>
              <a:rPr lang="en-US" dirty="0"/>
              <a:t>Loads </a:t>
            </a:r>
            <a:r>
              <a:rPr lang="en-US" b="1" dirty="0"/>
              <a:t>BIOS</a:t>
            </a:r>
            <a:r>
              <a:rPr lang="en-US" dirty="0"/>
              <a:t> which initializes hardware before handing control to OS.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034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FE35-5B1A-4E1F-A17A-1ED97C63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1959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Main Components of ROM: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C7575-0469-49B6-AF91-4836F38B2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57810"/>
              </p:ext>
            </p:extLst>
          </p:nvPr>
        </p:nvGraphicFramePr>
        <p:xfrm>
          <a:off x="677863" y="1642188"/>
          <a:ext cx="8596312" cy="2864496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33930957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280757240"/>
                    </a:ext>
                  </a:extLst>
                </a:gridCol>
              </a:tblGrid>
              <a:tr h="477416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0070C0"/>
                          </a:solidFill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048685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/>
                        <a:t>Decoder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Selects memory cell to be 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077560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 dirty="0"/>
                        <a:t>Memory Cell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Holds data in 0s and 1s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422390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 dirty="0"/>
                        <a:t>Address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Carry location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80143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/>
                        <a:t>Data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Carry stored data to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584865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/>
                        <a:t>Control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Control reading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93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972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5202-176C-4F84-8530-044C5806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8612"/>
          </a:xfrm>
        </p:spPr>
        <p:txBody>
          <a:bodyPr/>
          <a:lstStyle/>
          <a:p>
            <a:r>
              <a:rPr lang="en-US" b="1" dirty="0"/>
              <a:t>Working of ROM: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8856C-50B2-4F96-8B6F-F413384A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3531084"/>
          </a:xfrm>
        </p:spPr>
        <p:txBody>
          <a:bodyPr/>
          <a:lstStyle/>
          <a:p>
            <a:r>
              <a:rPr lang="en-US" dirty="0"/>
              <a:t>CPU sends </a:t>
            </a:r>
            <a:r>
              <a:rPr lang="en-US" b="1" dirty="0"/>
              <a:t>address</a:t>
            </a:r>
            <a:r>
              <a:rPr lang="en-US" dirty="0"/>
              <a:t> of the required instruction.</a:t>
            </a:r>
          </a:p>
          <a:p>
            <a:r>
              <a:rPr lang="en-US" dirty="0"/>
              <a:t>ROM </a:t>
            </a:r>
            <a:r>
              <a:rPr lang="en-US" b="1" dirty="0"/>
              <a:t>decoder</a:t>
            </a:r>
            <a:r>
              <a:rPr lang="en-US" dirty="0"/>
              <a:t> activates that memory location.</a:t>
            </a:r>
          </a:p>
          <a:p>
            <a:r>
              <a:rPr lang="en-US" dirty="0"/>
              <a:t>Stored </a:t>
            </a:r>
            <a:r>
              <a:rPr lang="en-US" b="1" dirty="0"/>
              <a:t>data is read</a:t>
            </a:r>
            <a:r>
              <a:rPr lang="en-US" dirty="0"/>
              <a:t> and sent to CPU via data lines.</a:t>
            </a:r>
          </a:p>
          <a:p>
            <a:r>
              <a:rPr lang="en-US" dirty="0"/>
              <a:t>CPU uses that data for system startup (booting).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What is a Hard Disk?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Hard Disk Drive (HDD)</a:t>
            </a:r>
            <a:r>
              <a:rPr lang="en-US" dirty="0"/>
              <a:t> is a </a:t>
            </a:r>
            <a:r>
              <a:rPr lang="en-US" b="1" dirty="0"/>
              <a:t>non-volatile secondary storage device</a:t>
            </a:r>
            <a:r>
              <a:rPr lang="en-US" dirty="0"/>
              <a:t> that stores </a:t>
            </a:r>
            <a:r>
              <a:rPr lang="en-US" b="1" dirty="0"/>
              <a:t>OS, files, applications, videos, etc.</a:t>
            </a:r>
            <a:r>
              <a:rPr lang="en-US" dirty="0"/>
              <a:t>, permanently.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692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D726-FCAA-41DD-BC0F-AACF9216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898849"/>
            <a:ext cx="8596668" cy="836645"/>
          </a:xfrm>
        </p:spPr>
        <p:txBody>
          <a:bodyPr/>
          <a:lstStyle/>
          <a:p>
            <a:r>
              <a:rPr lang="en-US" dirty="0"/>
              <a:t>Parts of a Hard Disk: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7D3EE-8E99-48D9-B912-EB62AA0CC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43996"/>
              </p:ext>
            </p:extLst>
          </p:nvPr>
        </p:nvGraphicFramePr>
        <p:xfrm>
          <a:off x="677333" y="1973976"/>
          <a:ext cx="8457336" cy="3693302"/>
        </p:xfrm>
        <a:graphic>
          <a:graphicData uri="http://schemas.openxmlformats.org/drawingml/2006/table">
            <a:tbl>
              <a:tblPr/>
              <a:tblGrid>
                <a:gridCol w="3446798">
                  <a:extLst>
                    <a:ext uri="{9D8B030D-6E8A-4147-A177-3AD203B41FA5}">
                      <a16:colId xmlns:a16="http://schemas.microsoft.com/office/drawing/2014/main" val="4057420186"/>
                    </a:ext>
                  </a:extLst>
                </a:gridCol>
                <a:gridCol w="5010538">
                  <a:extLst>
                    <a:ext uri="{9D8B030D-6E8A-4147-A177-3AD203B41FA5}">
                      <a16:colId xmlns:a16="http://schemas.microsoft.com/office/drawing/2014/main" val="2660087342"/>
                    </a:ext>
                  </a:extLst>
                </a:gridCol>
              </a:tblGrid>
              <a:tr h="355573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Part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40312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 dirty="0"/>
                        <a:t>Platter</a:t>
                      </a:r>
                      <a:endParaRPr lang="en-IN" sz="1600" dirty="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Round magnetic disks where data is stored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900199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/>
                        <a:t>Spindle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Holds and spins the platters at high speed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520770"/>
                  </a:ext>
                </a:extLst>
              </a:tr>
              <a:tr h="303208">
                <a:tc>
                  <a:txBody>
                    <a:bodyPr/>
                    <a:lstStyle/>
                    <a:p>
                      <a:r>
                        <a:rPr lang="en-IN" sz="1600" b="1"/>
                        <a:t>Read/Write Head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Reads or writes data on the platters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888323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 dirty="0"/>
                        <a:t>Actuator Arm</a:t>
                      </a:r>
                      <a:endParaRPr lang="en-IN" sz="1600" dirty="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Moves the read/write head across platters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434226"/>
                  </a:ext>
                </a:extLst>
              </a:tr>
              <a:tr h="303208">
                <a:tc>
                  <a:txBody>
                    <a:bodyPr/>
                    <a:lstStyle/>
                    <a:p>
                      <a:r>
                        <a:rPr lang="en-IN" sz="1600" b="1"/>
                        <a:t>Actuator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Controls the movement of actuator arm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909011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/>
                        <a:t>Disk Controller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Interface between the hard disk and computer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934623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/>
                        <a:t>Cache (Buffer)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Temporary memory inside HDD to speed up access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858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003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471A-8A90-45ED-83BD-E27BCE7A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306"/>
          </a:xfrm>
        </p:spPr>
        <p:txBody>
          <a:bodyPr/>
          <a:lstStyle/>
          <a:p>
            <a:r>
              <a:rPr lang="en-US" b="1" dirty="0"/>
              <a:t>Working of a Hard Disk: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59B6-8ED9-434C-9261-5D0E84EBC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430"/>
            <a:ext cx="8596668" cy="3880773"/>
          </a:xfrm>
        </p:spPr>
        <p:txBody>
          <a:bodyPr/>
          <a:lstStyle/>
          <a:p>
            <a:r>
              <a:rPr lang="en-US" dirty="0"/>
              <a:t>When you open a file, the </a:t>
            </a:r>
            <a:r>
              <a:rPr lang="en-US" b="1" dirty="0"/>
              <a:t>CPU sends a request</a:t>
            </a:r>
            <a:r>
              <a:rPr lang="en-US" dirty="0"/>
              <a:t> to the hard disk.</a:t>
            </a:r>
          </a:p>
          <a:p>
            <a:r>
              <a:rPr lang="en-US" dirty="0"/>
              <a:t>The </a:t>
            </a:r>
            <a:r>
              <a:rPr lang="en-US" b="1" dirty="0"/>
              <a:t>disk controller</a:t>
            </a:r>
            <a:r>
              <a:rPr lang="en-US" dirty="0"/>
              <a:t> receives the request and sends it to the actuator.</a:t>
            </a:r>
          </a:p>
          <a:p>
            <a:r>
              <a:rPr lang="en-US" dirty="0"/>
              <a:t>The </a:t>
            </a:r>
            <a:r>
              <a:rPr lang="en-US" b="1" dirty="0"/>
              <a:t>actuator arm moves the read/write head</a:t>
            </a:r>
            <a:r>
              <a:rPr lang="en-US" dirty="0"/>
              <a:t> to the correct location on the spinning platter.</a:t>
            </a:r>
          </a:p>
          <a:p>
            <a:r>
              <a:rPr lang="en-US" dirty="0"/>
              <a:t>The </a:t>
            </a:r>
            <a:r>
              <a:rPr lang="en-US" b="1" dirty="0"/>
              <a:t>read head reads</a:t>
            </a:r>
            <a:r>
              <a:rPr lang="en-US" dirty="0"/>
              <a:t> the magnetic signals and sends data back to CPU via controller.</a:t>
            </a:r>
          </a:p>
          <a:p>
            <a:r>
              <a:rPr lang="en-US" dirty="0"/>
              <a:t>While saving files, </a:t>
            </a:r>
            <a:r>
              <a:rPr lang="en-US" b="1" dirty="0"/>
              <a:t>write head</a:t>
            </a:r>
            <a:r>
              <a:rPr lang="en-US" dirty="0"/>
              <a:t> converts data into magnetic signals and stores it on the platter.</a:t>
            </a:r>
          </a:p>
          <a:p>
            <a:r>
              <a:rPr lang="en-US" dirty="0"/>
              <a:t>The platters spin at high speed (e.g., 5400 or 7200 RPM), allowing fast access to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4746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187</TotalTime>
  <Words>3249</Words>
  <Application>Microsoft Office PowerPoint</Application>
  <PresentationFormat>Widescreen</PresentationFormat>
  <Paragraphs>460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Trebuchet MS</vt:lpstr>
      <vt:lpstr>Wingdings</vt:lpstr>
      <vt:lpstr>Wingdings 3</vt:lpstr>
      <vt:lpstr>Facet</vt:lpstr>
      <vt:lpstr>Introduction To Computer</vt:lpstr>
      <vt:lpstr>Types Of Computer</vt:lpstr>
      <vt:lpstr>Types Of Digital Computer</vt:lpstr>
      <vt:lpstr>What are IT Gadgets?</vt:lpstr>
      <vt:lpstr>List of Latest IT Gadgets and Their Applications:</vt:lpstr>
      <vt:lpstr>PowerPoint Presentation</vt:lpstr>
      <vt:lpstr>PowerPoint Presentation</vt:lpstr>
      <vt:lpstr>PowerPoint Presentation</vt:lpstr>
      <vt:lpstr>Applications of Computers and IT Gadgets in Daily Life:</vt:lpstr>
      <vt:lpstr>Evolution of Computers (History)</vt:lpstr>
      <vt:lpstr>Early Calculating Devices</vt:lpstr>
      <vt:lpstr>Generations of Computers</vt:lpstr>
      <vt:lpstr>PowerPoint Presentation</vt:lpstr>
      <vt:lpstr>PowerPoint Presentation</vt:lpstr>
      <vt:lpstr>PowerPoint Presentation</vt:lpstr>
      <vt:lpstr>PowerPoint Presentation</vt:lpstr>
      <vt:lpstr>What is CPU?</vt:lpstr>
      <vt:lpstr>Main Components of CPU</vt:lpstr>
      <vt:lpstr>PowerPoint Presentation</vt:lpstr>
      <vt:lpstr>What are Input Devices?</vt:lpstr>
      <vt:lpstr>PowerPoint Presentation</vt:lpstr>
      <vt:lpstr>PowerPoint Presentation</vt:lpstr>
      <vt:lpstr>PowerPoint Presentation</vt:lpstr>
      <vt:lpstr>Output Devices </vt:lpstr>
      <vt:lpstr>PowerPoint Presentation</vt:lpstr>
      <vt:lpstr>PowerPoint Presentation</vt:lpstr>
      <vt:lpstr>PowerPoint Presentation</vt:lpstr>
      <vt:lpstr>What is Memory?</vt:lpstr>
      <vt:lpstr>Secondary Memory (Storage Devices)</vt:lpstr>
      <vt:lpstr>Difference Between Primary and Secondary Memory</vt:lpstr>
      <vt:lpstr>PowerPoint Presentation</vt:lpstr>
      <vt:lpstr>Memory Units (from smallest to largest)  </vt:lpstr>
      <vt:lpstr>Types of RAM (Random Access Memory)</vt:lpstr>
      <vt:lpstr>What is ROM?</vt:lpstr>
      <vt:lpstr>Main Components of ROM:</vt:lpstr>
      <vt:lpstr>Working of ROM:</vt:lpstr>
      <vt:lpstr>Parts of a Hard Disk:</vt:lpstr>
      <vt:lpstr>Working of a Hard Disk: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</dc:title>
  <dc:creator>pc</dc:creator>
  <cp:lastModifiedBy>pc</cp:lastModifiedBy>
  <cp:revision>14</cp:revision>
  <dcterms:created xsi:type="dcterms:W3CDTF">2025-06-28T01:43:18Z</dcterms:created>
  <dcterms:modified xsi:type="dcterms:W3CDTF">2026-05-14T06:47:24Z</dcterms:modified>
</cp:coreProperties>
</file>